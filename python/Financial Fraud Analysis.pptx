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0"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07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my Python-based financial fraud analysis project — one million transactions from 2020 to 2024, aimed at finding real fraud patterns and separating fraud volume from actual fraud risk.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fraud specifically, here's the dataset itself: one million transaction records with 26 columns spanning five years. The columns fall into a few natural groups — transaction details, customer information, fraud-related attributes, payment and device info, and geographic data. This breadth is what let me look at fraud from so many angles.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everything else compares against. Overall, 55,255 of one million transactions were fraudulent — 5.53%. Just as important: of about 199,000 unique customers, 48,121 — roughly a quarter — were touched by fraud at least once. I'll come back to this 5.53% benchmark throughout, since every segment I look at gets compared to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transaction volume by year — notice it hovers right around 200,000 each year, no real growth or decline. Fraud rates were just as stable, staying near 5.5% the whole time. I want to be careful here: this is NOT strong growth. The real story is that fraud is a persistent, steady operational problem — not a fire that's spreading. That changes how a company should respond: build durable controls, not a one-time crackdown.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geography: the USA has by far the largest number of fraud cases in 2024. But when I calculated fraud RATE by country, they were all fairly close, around 5 to 6 percent. So the USA isn't necessarily the riskiest country — it just has more transactions overall, so more fraud cases surface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method tells a similar story with a twist. Credit and Debit Cards dominate fraud volume — makes sense, they're used the most. But when I look at fraud RATE, Cheque transactions actually stand out at 6.22%, meaningfully higher than every other method. That's the kind of finding you'd miss if you only looked at volume.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with devices. Mobile drives the most fraud cases by far — 45% of all fraud — but that's because mobile is how most people transact today. Fraud rates across devices were actually quite similar, all in the 5.3 to 5.6 percent range. So again: high volume, not necessarily high risk.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timing. This heatmap shows fraud is not spread evenly across the day — it clusters late at night and early morning, roughly 10pm to 6am. That's a consistent pattern worth building into monitoring rules, though I'd want to confirm it holds up as a rate, not just a count, before hardening any thresholds.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demographics, the 35-44 age group has the most fraud cases, followed by 45-54 and 25-34. Important caveat: this is a count, not a rate — I don't know if that age group actually has a higher probability of fraud, just more cases, possibly because they transact more.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things get more interesting — merchant category. This chart shows fraud COUNT by category, so Jewelry, ATM Withdrawal, and Crypto Exchange top the list. But I went further and calculated the actual fraud RATE for each category: Jewelry at 8.86%, ATM Withdrawal at 8.79%, Crypto Exchange at 8.71% — meaningfully higher than everyday categories like Electronics or Fuel. This tells us uniform fraud controls miss these high-exposure categories, and they deserve enhanced monitoring.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might be the single strongest signal in the whole analysis. When a transaction has zero or one failed attempts, the fraud rate is 4.51%. But at two or more failed attempts, it jumps to nearly 15% and stays there. That's roughly a threefold increase. I want to be careful not to claim causation, but this association is strong enough that two-or-more failed attempts should trigger extra verification in a real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transactions show a fraud rate of 9.85%, more than double the domestic rate of 4.72%. My recommendation is NOT to block international transactions outright — that would hurt legitimate customers — but to apply smarter, risk-based authentication, especially combined with other red flags.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it all together. Five key findings: fraud is persistent at around 5.5%; certain merchant categories carry real elevated risk; two-plus failed attempts is a strong warning sign; international transactions carry meaningfully more risk; and — the theme running through everything — high fraud volume doesn't automatically mean high fraud risk. Each finding pairs with a specific, practical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fraud risk here is multi-dimensional. No single transaction feature tells the whole story on its own. The strongest path forward is combining signals — failed attempts, international status, and merchant category together — as part of a layered, risk-based monitoring strategy.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146"/>
        </a:solidFill>
        <a:effectLst/>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30476A">
              <a:alpha val="60000"/>
            </a:srgbClr>
          </a:solidFill>
          <a:ln/>
        </p:spPr>
      </p:sp>
      <p:sp>
        <p:nvSpPr>
          <p:cNvPr id="3" name="Shape 1"/>
          <p:cNvSpPr/>
          <p:nvPr/>
        </p:nvSpPr>
        <p:spPr>
          <a:xfrm>
            <a:off x="-1371600" y="4846320"/>
            <a:ext cx="3291840" cy="3291840"/>
          </a:xfrm>
          <a:prstGeom prst="ellipse">
            <a:avLst/>
          </a:prstGeom>
          <a:solidFill>
            <a:srgbClr val="2F9E93">
              <a:alpha val="30000"/>
            </a:srgbClr>
          </a:solidFill>
          <a:ln/>
        </p:spPr>
      </p:sp>
      <p:sp>
        <p:nvSpPr>
          <p:cNvPr id="4" name="Shape 2"/>
          <p:cNvSpPr/>
          <p:nvPr/>
        </p:nvSpPr>
        <p:spPr>
          <a:xfrm>
            <a:off x="10607040" y="5212080"/>
            <a:ext cx="1280160" cy="1280160"/>
          </a:xfrm>
          <a:prstGeom prst="ellipse">
            <a:avLst/>
          </a:prstGeom>
          <a:solidFill>
            <a:srgbClr val="D1495B">
              <a:alpha val="45000"/>
            </a:srgbClr>
          </a:solidFill>
          <a:ln/>
        </p:spPr>
      </p:sp>
      <p:sp>
        <p:nvSpPr>
          <p:cNvPr id="5" name="Text 3"/>
          <p:cNvSpPr/>
          <p:nvPr/>
        </p:nvSpPr>
        <p:spPr>
          <a:xfrm>
            <a:off x="822960" y="2606040"/>
            <a:ext cx="9144000" cy="365760"/>
          </a:xfrm>
          <a:prstGeom prst="rect">
            <a:avLst/>
          </a:prstGeom>
          <a:noFill/>
          <a:ln/>
        </p:spPr>
        <p:txBody>
          <a:bodyPr wrap="square" rtlCol="0" anchor="ctr"/>
          <a:lstStyle/>
          <a:p>
            <a:pPr marL="0" indent="0">
              <a:buNone/>
            </a:pPr>
            <a:r>
              <a:rPr lang="en-US" sz="1300" b="1" kern="0" spc="200" dirty="0">
                <a:solidFill>
                  <a:srgbClr val="2F9E93"/>
                </a:solidFill>
                <a:latin typeface="Calibri" pitchFamily="34" charset="0"/>
                <a:ea typeface="Calibri" pitchFamily="34" charset="-122"/>
                <a:cs typeface="Calibri" pitchFamily="34" charset="-120"/>
              </a:rPr>
              <a:t>DATA ANALYTICS &amp; BUSINESS INTELLIGENCE PROJECT</a:t>
            </a:r>
            <a:endParaRPr lang="en-US" sz="1300" dirty="0"/>
          </a:p>
        </p:txBody>
      </p:sp>
      <p:sp>
        <p:nvSpPr>
          <p:cNvPr id="6" name="Text 4"/>
          <p:cNvSpPr/>
          <p:nvPr/>
        </p:nvSpPr>
        <p:spPr>
          <a:xfrm>
            <a:off x="777240" y="2971800"/>
            <a:ext cx="10515600" cy="128016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Financial Fraud Analysis</a:t>
            </a:r>
            <a:endParaRPr lang="en-US" sz="5000" dirty="0"/>
          </a:p>
        </p:txBody>
      </p:sp>
      <p:sp>
        <p:nvSpPr>
          <p:cNvPr id="7" name="Text 5"/>
          <p:cNvSpPr/>
          <p:nvPr/>
        </p:nvSpPr>
        <p:spPr>
          <a:xfrm>
            <a:off x="822960" y="4160520"/>
            <a:ext cx="9418320" cy="640080"/>
          </a:xfrm>
          <a:prstGeom prst="rect">
            <a:avLst/>
          </a:prstGeom>
          <a:noFill/>
          <a:ln/>
        </p:spPr>
        <p:txBody>
          <a:bodyPr wrap="square" rtlCol="0" anchor="ctr"/>
          <a:lstStyle/>
          <a:p>
            <a:pPr marL="0" indent="0">
              <a:buNone/>
            </a:pPr>
            <a:r>
              <a:rPr lang="en-US" sz="1800" i="1" dirty="0">
                <a:solidFill>
                  <a:srgbClr val="C9D2DE"/>
                </a:solidFill>
                <a:latin typeface="Calibri" pitchFamily="34" charset="0"/>
                <a:ea typeface="Calibri" pitchFamily="34" charset="-122"/>
                <a:cs typeface="Calibri" pitchFamily="34" charset="-120"/>
              </a:rPr>
              <a:t>Identifying Fraud Patterns, Risk Indicators, and Business Insights Using Python</a:t>
            </a:r>
            <a:endParaRPr lang="en-US" sz="1800" dirty="0"/>
          </a:p>
        </p:txBody>
      </p:sp>
      <p:sp>
        <p:nvSpPr>
          <p:cNvPr id="8" name="Text 6"/>
          <p:cNvSpPr/>
          <p:nvPr/>
        </p:nvSpPr>
        <p:spPr>
          <a:xfrm>
            <a:off x="822960" y="6263640"/>
            <a:ext cx="8229600" cy="320040"/>
          </a:xfrm>
          <a:prstGeom prst="rect">
            <a:avLst/>
          </a:prstGeom>
          <a:noFill/>
          <a:ln/>
        </p:spPr>
        <p:txBody>
          <a:bodyPr wrap="square" rtlCol="0" anchor="ctr"/>
          <a:lstStyle/>
          <a:p>
            <a:pPr marL="0" indent="0">
              <a:buNone/>
            </a:pPr>
            <a:r>
              <a:rPr lang="en-US" sz="1050" dirty="0">
                <a:solidFill>
                  <a:srgbClr val="7F8AA0"/>
                </a:solidFill>
                <a:latin typeface="Calibri" pitchFamily="34" charset="0"/>
                <a:ea typeface="Calibri" pitchFamily="34" charset="-122"/>
                <a:cs typeface="Calibri" pitchFamily="34" charset="-120"/>
              </a:rPr>
              <a:t>Presented by </a:t>
            </a:r>
            <a:r>
              <a:rPr lang="en-US" sz="1050" dirty="0" err="1" smtClean="0">
                <a:solidFill>
                  <a:srgbClr val="7F8AA0"/>
                </a:solidFill>
                <a:latin typeface="Calibri" pitchFamily="34" charset="0"/>
                <a:ea typeface="Calibri" pitchFamily="34" charset="-122"/>
                <a:cs typeface="Calibri" pitchFamily="34" charset="-120"/>
              </a:rPr>
              <a:t>Darshan</a:t>
            </a:r>
            <a:r>
              <a:rPr lang="en-US" sz="1050" dirty="0" smtClean="0">
                <a:solidFill>
                  <a:srgbClr val="7F8AA0"/>
                </a:solidFill>
                <a:latin typeface="Calibri" pitchFamily="34" charset="0"/>
                <a:ea typeface="Calibri" pitchFamily="34" charset="-122"/>
                <a:cs typeface="Calibri" pitchFamily="34" charset="-120"/>
              </a:rPr>
              <a:t> |  </a:t>
            </a:r>
            <a:r>
              <a:rPr lang="en-US" sz="1050" dirty="0" smtClean="0">
                <a:solidFill>
                  <a:srgbClr val="7F8AA0"/>
                </a:solidFill>
                <a:latin typeface="Calibri" pitchFamily="34" charset="0"/>
                <a:ea typeface="Calibri" pitchFamily="34" charset="-122"/>
                <a:cs typeface="Calibri" pitchFamily="34" charset="-120"/>
              </a:rPr>
              <a:t>Analysis Using Python</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Dataset Overview</a:t>
            </a:r>
            <a:endParaRPr lang="en-US" sz="2800" dirty="0"/>
          </a:p>
        </p:txBody>
      </p:sp>
      <p:sp>
        <p:nvSpPr>
          <p:cNvPr id="4" name="Shape 2"/>
          <p:cNvSpPr/>
          <p:nvPr/>
        </p:nvSpPr>
        <p:spPr>
          <a:xfrm>
            <a:off x="457200" y="1481328"/>
            <a:ext cx="365760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5" name="Text 3"/>
          <p:cNvSpPr/>
          <p:nvPr/>
        </p:nvSpPr>
        <p:spPr>
          <a:xfrm>
            <a:off x="457200" y="1572768"/>
            <a:ext cx="3657600" cy="502920"/>
          </a:xfrm>
          <a:prstGeom prst="rect">
            <a:avLst/>
          </a:prstGeom>
          <a:noFill/>
          <a:ln/>
        </p:spPr>
        <p:txBody>
          <a:bodyPr wrap="square" rtlCol="0" anchor="ctr"/>
          <a:lstStyle/>
          <a:p>
            <a:pPr marL="0" indent="0" algn="ctr">
              <a:buNone/>
            </a:pPr>
            <a:r>
              <a:rPr lang="en-US" sz="2200" b="1" dirty="0">
                <a:solidFill>
                  <a:srgbClr val="2F3146"/>
                </a:solidFill>
                <a:latin typeface="Cambria" pitchFamily="34" charset="0"/>
                <a:ea typeface="Cambria" pitchFamily="34" charset="-122"/>
                <a:cs typeface="Cambria" pitchFamily="34" charset="-120"/>
              </a:rPr>
              <a:t>1,000,000</a:t>
            </a:r>
            <a:endParaRPr lang="en-US" sz="2200" dirty="0"/>
          </a:p>
        </p:txBody>
      </p:sp>
      <p:sp>
        <p:nvSpPr>
          <p:cNvPr id="6" name="Text 4"/>
          <p:cNvSpPr/>
          <p:nvPr/>
        </p:nvSpPr>
        <p:spPr>
          <a:xfrm>
            <a:off x="457200" y="2075688"/>
            <a:ext cx="3657600" cy="3657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Records (Transactions)</a:t>
            </a:r>
            <a:endParaRPr lang="en-US" sz="1100" dirty="0"/>
          </a:p>
        </p:txBody>
      </p:sp>
      <p:sp>
        <p:nvSpPr>
          <p:cNvPr id="7" name="Shape 5"/>
          <p:cNvSpPr/>
          <p:nvPr/>
        </p:nvSpPr>
        <p:spPr>
          <a:xfrm>
            <a:off x="4251960" y="1481328"/>
            <a:ext cx="365760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8" name="Text 6"/>
          <p:cNvSpPr/>
          <p:nvPr/>
        </p:nvSpPr>
        <p:spPr>
          <a:xfrm>
            <a:off x="4251960" y="1572768"/>
            <a:ext cx="3657600" cy="502920"/>
          </a:xfrm>
          <a:prstGeom prst="rect">
            <a:avLst/>
          </a:prstGeom>
          <a:noFill/>
          <a:ln/>
        </p:spPr>
        <p:txBody>
          <a:bodyPr wrap="square" rtlCol="0" anchor="ctr"/>
          <a:lstStyle/>
          <a:p>
            <a:pPr marL="0" indent="0" algn="ctr">
              <a:buNone/>
            </a:pPr>
            <a:r>
              <a:rPr lang="en-US" sz="2200" b="1" dirty="0">
                <a:solidFill>
                  <a:srgbClr val="2F3146"/>
                </a:solidFill>
                <a:latin typeface="Cambria" pitchFamily="34" charset="0"/>
                <a:ea typeface="Cambria" pitchFamily="34" charset="-122"/>
                <a:cs typeface="Cambria" pitchFamily="34" charset="-120"/>
              </a:rPr>
              <a:t>26</a:t>
            </a:r>
            <a:endParaRPr lang="en-US" sz="2200" dirty="0"/>
          </a:p>
        </p:txBody>
      </p:sp>
      <p:sp>
        <p:nvSpPr>
          <p:cNvPr id="9" name="Text 7"/>
          <p:cNvSpPr/>
          <p:nvPr/>
        </p:nvSpPr>
        <p:spPr>
          <a:xfrm>
            <a:off x="4251960" y="2075688"/>
            <a:ext cx="3657600" cy="3657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Columns / Features</a:t>
            </a:r>
            <a:endParaRPr lang="en-US" sz="1100" dirty="0"/>
          </a:p>
        </p:txBody>
      </p:sp>
      <p:sp>
        <p:nvSpPr>
          <p:cNvPr id="10" name="Shape 8"/>
          <p:cNvSpPr/>
          <p:nvPr/>
        </p:nvSpPr>
        <p:spPr>
          <a:xfrm>
            <a:off x="8046720" y="1481328"/>
            <a:ext cx="3657600" cy="1051560"/>
          </a:xfrm>
          <a:prstGeom prst="roundRect">
            <a:avLst>
              <a:gd name="adj" fmla="val 6957"/>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11" name="Text 9"/>
          <p:cNvSpPr/>
          <p:nvPr/>
        </p:nvSpPr>
        <p:spPr>
          <a:xfrm>
            <a:off x="8046720" y="1572768"/>
            <a:ext cx="3657600" cy="502920"/>
          </a:xfrm>
          <a:prstGeom prst="rect">
            <a:avLst/>
          </a:prstGeom>
          <a:noFill/>
          <a:ln/>
        </p:spPr>
        <p:txBody>
          <a:bodyPr wrap="square" rtlCol="0" anchor="ctr"/>
          <a:lstStyle/>
          <a:p>
            <a:pPr marL="0" indent="0" algn="ctr">
              <a:buNone/>
            </a:pPr>
            <a:r>
              <a:rPr lang="en-US" sz="2200" b="1" dirty="0">
                <a:solidFill>
                  <a:srgbClr val="2F3146"/>
                </a:solidFill>
                <a:latin typeface="Cambria" pitchFamily="34" charset="0"/>
                <a:ea typeface="Cambria" pitchFamily="34" charset="-122"/>
                <a:cs typeface="Cambria" pitchFamily="34" charset="-120"/>
              </a:rPr>
              <a:t>2020–2024</a:t>
            </a:r>
            <a:endParaRPr lang="en-US" sz="2200" dirty="0"/>
          </a:p>
        </p:txBody>
      </p:sp>
      <p:sp>
        <p:nvSpPr>
          <p:cNvPr id="12" name="Text 10"/>
          <p:cNvSpPr/>
          <p:nvPr/>
        </p:nvSpPr>
        <p:spPr>
          <a:xfrm>
            <a:off x="8046720" y="2075688"/>
            <a:ext cx="3657600" cy="3657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Time Period Covered</a:t>
            </a:r>
            <a:endParaRPr lang="en-US" sz="1100" dirty="0"/>
          </a:p>
        </p:txBody>
      </p:sp>
      <p:sp>
        <p:nvSpPr>
          <p:cNvPr id="13" name="Text 11"/>
          <p:cNvSpPr/>
          <p:nvPr/>
        </p:nvSpPr>
        <p:spPr>
          <a:xfrm>
            <a:off x="457200" y="2788920"/>
            <a:ext cx="731520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VARIABLE CATEGORIES IN THE DATASET</a:t>
            </a:r>
            <a:endParaRPr lang="en-US" sz="1150" dirty="0"/>
          </a:p>
        </p:txBody>
      </p:sp>
      <p:sp>
        <p:nvSpPr>
          <p:cNvPr id="14" name="Shape 12"/>
          <p:cNvSpPr/>
          <p:nvPr/>
        </p:nvSpPr>
        <p:spPr>
          <a:xfrm>
            <a:off x="457200" y="3154680"/>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15" name="Shape 13"/>
          <p:cNvSpPr/>
          <p:nvPr/>
        </p:nvSpPr>
        <p:spPr>
          <a:xfrm>
            <a:off x="658368" y="3337560"/>
            <a:ext cx="82296" cy="1051560"/>
          </a:xfrm>
          <a:prstGeom prst="roundRect">
            <a:avLst/>
          </a:prstGeom>
          <a:solidFill>
            <a:srgbClr val="2F9E93"/>
          </a:solidFill>
          <a:ln/>
        </p:spPr>
      </p:sp>
      <p:sp>
        <p:nvSpPr>
          <p:cNvPr id="16" name="Text 14"/>
          <p:cNvSpPr/>
          <p:nvPr/>
        </p:nvSpPr>
        <p:spPr>
          <a:xfrm>
            <a:off x="841248" y="3319272"/>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Transaction Details</a:t>
            </a:r>
            <a:endParaRPr lang="en-US" sz="1300" dirty="0"/>
          </a:p>
        </p:txBody>
      </p:sp>
      <p:sp>
        <p:nvSpPr>
          <p:cNvPr id="17" name="Text 15"/>
          <p:cNvSpPr/>
          <p:nvPr/>
        </p:nvSpPr>
        <p:spPr>
          <a:xfrm>
            <a:off x="841248" y="3685032"/>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Date, time, </a:t>
            </a:r>
            <a:r>
              <a:rPr lang="en-US" sz="1050" dirty="0" smtClean="0">
                <a:solidFill>
                  <a:srgbClr val="263238"/>
                </a:solidFill>
                <a:latin typeface="Calibri" pitchFamily="34" charset="0"/>
                <a:ea typeface="Calibri" pitchFamily="34" charset="-122"/>
                <a:cs typeface="Calibri" pitchFamily="34" charset="-120"/>
              </a:rPr>
              <a:t>hour-of-day</a:t>
            </a:r>
            <a:r>
              <a:rPr lang="en-US" sz="1050" dirty="0">
                <a:solidFill>
                  <a:srgbClr val="263238"/>
                </a:solidFill>
                <a:latin typeface="Calibri" pitchFamily="34" charset="0"/>
                <a:ea typeface="Calibri" pitchFamily="34" charset="-122"/>
                <a:cs typeface="Calibri" pitchFamily="34" charset="-120"/>
              </a:rPr>
              <a:t>, amount, weekend/night flags, </a:t>
            </a:r>
            <a:r>
              <a:rPr lang="en-US" sz="1050" dirty="0" smtClean="0">
                <a:solidFill>
                  <a:srgbClr val="263238"/>
                </a:solidFill>
                <a:latin typeface="Calibri" pitchFamily="34" charset="0"/>
                <a:ea typeface="Calibri" pitchFamily="34" charset="-122"/>
                <a:cs typeface="Calibri" pitchFamily="34" charset="-120"/>
              </a:rPr>
              <a:t>and transaction </a:t>
            </a:r>
            <a:r>
              <a:rPr lang="en-US" sz="1050" dirty="0">
                <a:solidFill>
                  <a:srgbClr val="263238"/>
                </a:solidFill>
                <a:latin typeface="Calibri" pitchFamily="34" charset="0"/>
                <a:ea typeface="Calibri" pitchFamily="34" charset="-122"/>
                <a:cs typeface="Calibri" pitchFamily="34" charset="-120"/>
              </a:rPr>
              <a:t>frequency</a:t>
            </a:r>
            <a:endParaRPr lang="en-US" sz="1050" dirty="0"/>
          </a:p>
        </p:txBody>
      </p:sp>
      <p:sp>
        <p:nvSpPr>
          <p:cNvPr id="18" name="Shape 16"/>
          <p:cNvSpPr/>
          <p:nvPr/>
        </p:nvSpPr>
        <p:spPr>
          <a:xfrm>
            <a:off x="4251960" y="3154680"/>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19" name="Shape 17"/>
          <p:cNvSpPr/>
          <p:nvPr/>
        </p:nvSpPr>
        <p:spPr>
          <a:xfrm>
            <a:off x="4453128" y="3337560"/>
            <a:ext cx="82296" cy="1051560"/>
          </a:xfrm>
          <a:prstGeom prst="roundRect">
            <a:avLst/>
          </a:prstGeom>
          <a:solidFill>
            <a:srgbClr val="2F9E93"/>
          </a:solidFill>
          <a:ln/>
        </p:spPr>
      </p:sp>
      <p:sp>
        <p:nvSpPr>
          <p:cNvPr id="20" name="Text 18"/>
          <p:cNvSpPr/>
          <p:nvPr/>
        </p:nvSpPr>
        <p:spPr>
          <a:xfrm>
            <a:off x="4636008" y="3319272"/>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Customer Information</a:t>
            </a:r>
            <a:endParaRPr lang="en-US" sz="1300" dirty="0"/>
          </a:p>
        </p:txBody>
      </p:sp>
      <p:sp>
        <p:nvSpPr>
          <p:cNvPr id="21" name="Text 19"/>
          <p:cNvSpPr/>
          <p:nvPr/>
        </p:nvSpPr>
        <p:spPr>
          <a:xfrm>
            <a:off x="4636008" y="3685032"/>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Customer age, credit score, account age, account balance</a:t>
            </a:r>
            <a:endParaRPr lang="en-US" sz="1050" dirty="0"/>
          </a:p>
        </p:txBody>
      </p:sp>
      <p:sp>
        <p:nvSpPr>
          <p:cNvPr id="22" name="Shape 20"/>
          <p:cNvSpPr/>
          <p:nvPr/>
        </p:nvSpPr>
        <p:spPr>
          <a:xfrm>
            <a:off x="8046720" y="3154680"/>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23" name="Shape 21"/>
          <p:cNvSpPr/>
          <p:nvPr/>
        </p:nvSpPr>
        <p:spPr>
          <a:xfrm>
            <a:off x="8247888" y="3337560"/>
            <a:ext cx="82296" cy="1051560"/>
          </a:xfrm>
          <a:prstGeom prst="roundRect">
            <a:avLst/>
          </a:prstGeom>
          <a:solidFill>
            <a:srgbClr val="2F9E93"/>
          </a:solidFill>
          <a:ln/>
        </p:spPr>
      </p:sp>
      <p:sp>
        <p:nvSpPr>
          <p:cNvPr id="24" name="Text 22"/>
          <p:cNvSpPr/>
          <p:nvPr/>
        </p:nvSpPr>
        <p:spPr>
          <a:xfrm>
            <a:off x="8430768" y="3319272"/>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Fraud-Related Attributes</a:t>
            </a:r>
            <a:endParaRPr lang="en-US" sz="1300" dirty="0"/>
          </a:p>
        </p:txBody>
      </p:sp>
      <p:sp>
        <p:nvSpPr>
          <p:cNvPr id="25" name="Text 23"/>
          <p:cNvSpPr/>
          <p:nvPr/>
        </p:nvSpPr>
        <p:spPr>
          <a:xfrm>
            <a:off x="8430768" y="3685032"/>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Fraud flag, fraud type, failed login attempts, </a:t>
            </a:r>
            <a:r>
              <a:rPr lang="en-US" sz="1050" dirty="0" smtClean="0">
                <a:solidFill>
                  <a:srgbClr val="263238"/>
                </a:solidFill>
                <a:latin typeface="Calibri" pitchFamily="34" charset="0"/>
                <a:ea typeface="Calibri" pitchFamily="34" charset="-122"/>
                <a:cs typeface="Calibri" pitchFamily="34" charset="-120"/>
              </a:rPr>
              <a:t>and recent </a:t>
            </a:r>
            <a:r>
              <a:rPr lang="en-US" sz="1050" dirty="0">
                <a:solidFill>
                  <a:srgbClr val="263238"/>
                </a:solidFill>
                <a:latin typeface="Calibri" pitchFamily="34" charset="0"/>
                <a:ea typeface="Calibri" pitchFamily="34" charset="-122"/>
                <a:cs typeface="Calibri" pitchFamily="34" charset="-120"/>
              </a:rPr>
              <a:t>PIN change</a:t>
            </a:r>
            <a:endParaRPr lang="en-US" sz="1050" dirty="0"/>
          </a:p>
        </p:txBody>
      </p:sp>
      <p:sp>
        <p:nvSpPr>
          <p:cNvPr id="26" name="Shape 24"/>
          <p:cNvSpPr/>
          <p:nvPr/>
        </p:nvSpPr>
        <p:spPr>
          <a:xfrm>
            <a:off x="457200" y="4736592"/>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27" name="Shape 25"/>
          <p:cNvSpPr/>
          <p:nvPr/>
        </p:nvSpPr>
        <p:spPr>
          <a:xfrm>
            <a:off x="658368" y="4919472"/>
            <a:ext cx="82296" cy="1051560"/>
          </a:xfrm>
          <a:prstGeom prst="roundRect">
            <a:avLst/>
          </a:prstGeom>
          <a:solidFill>
            <a:srgbClr val="2F9E93"/>
          </a:solidFill>
          <a:ln/>
        </p:spPr>
      </p:sp>
      <p:sp>
        <p:nvSpPr>
          <p:cNvPr id="28" name="Text 26"/>
          <p:cNvSpPr/>
          <p:nvPr/>
        </p:nvSpPr>
        <p:spPr>
          <a:xfrm>
            <a:off x="841248" y="4901184"/>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Payment &amp; Device Info</a:t>
            </a:r>
            <a:endParaRPr lang="en-US" sz="1300" dirty="0"/>
          </a:p>
        </p:txBody>
      </p:sp>
      <p:sp>
        <p:nvSpPr>
          <p:cNvPr id="29" name="Text 27"/>
          <p:cNvSpPr/>
          <p:nvPr/>
        </p:nvSpPr>
        <p:spPr>
          <a:xfrm>
            <a:off x="841248" y="5266944"/>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Payment method and device type used for each transaction</a:t>
            </a:r>
            <a:endParaRPr lang="en-US" sz="1050" dirty="0"/>
          </a:p>
        </p:txBody>
      </p:sp>
      <p:sp>
        <p:nvSpPr>
          <p:cNvPr id="30" name="Shape 28"/>
          <p:cNvSpPr/>
          <p:nvPr/>
        </p:nvSpPr>
        <p:spPr>
          <a:xfrm>
            <a:off x="4251960" y="4736592"/>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31" name="Shape 29"/>
          <p:cNvSpPr/>
          <p:nvPr/>
        </p:nvSpPr>
        <p:spPr>
          <a:xfrm>
            <a:off x="4453128" y="4919472"/>
            <a:ext cx="82296" cy="1051560"/>
          </a:xfrm>
          <a:prstGeom prst="roundRect">
            <a:avLst/>
          </a:prstGeom>
          <a:solidFill>
            <a:srgbClr val="2F9E93"/>
          </a:solidFill>
          <a:ln/>
        </p:spPr>
      </p:sp>
      <p:sp>
        <p:nvSpPr>
          <p:cNvPr id="32" name="Text 30"/>
          <p:cNvSpPr/>
          <p:nvPr/>
        </p:nvSpPr>
        <p:spPr>
          <a:xfrm>
            <a:off x="4636008" y="4901184"/>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Geographical Data</a:t>
            </a:r>
            <a:endParaRPr lang="en-US" sz="1300" dirty="0"/>
          </a:p>
        </p:txBody>
      </p:sp>
      <p:sp>
        <p:nvSpPr>
          <p:cNvPr id="33" name="Text 31"/>
          <p:cNvSpPr/>
          <p:nvPr/>
        </p:nvSpPr>
        <p:spPr>
          <a:xfrm>
            <a:off x="4636008" y="5266944"/>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Country, city, and distance of transaction from customer's home</a:t>
            </a:r>
            <a:endParaRPr lang="en-US" sz="1050" dirty="0"/>
          </a:p>
        </p:txBody>
      </p:sp>
      <p:sp>
        <p:nvSpPr>
          <p:cNvPr id="34" name="Shape 32"/>
          <p:cNvSpPr/>
          <p:nvPr/>
        </p:nvSpPr>
        <p:spPr>
          <a:xfrm>
            <a:off x="8046720" y="4736592"/>
            <a:ext cx="3657600" cy="1417320"/>
          </a:xfrm>
          <a:prstGeom prst="roundRect">
            <a:avLst>
              <a:gd name="adj" fmla="val 4516"/>
            </a:avLst>
          </a:prstGeom>
          <a:solidFill>
            <a:srgbClr val="FFFFFF"/>
          </a:solidFill>
          <a:ln w="12700">
            <a:solidFill>
              <a:srgbClr val="E3E6EC"/>
            </a:solidFill>
            <a:prstDash val="solid"/>
          </a:ln>
          <a:effectLst>
            <a:outerShdw blurRad="63500" dist="25400" dir="5400000" algn="bl" rotWithShape="0">
              <a:srgbClr val="1F2937">
                <a:alpha val="8000"/>
              </a:srgbClr>
            </a:outerShdw>
          </a:effectLst>
        </p:spPr>
      </p:sp>
      <p:sp>
        <p:nvSpPr>
          <p:cNvPr id="35" name="Shape 33"/>
          <p:cNvSpPr/>
          <p:nvPr/>
        </p:nvSpPr>
        <p:spPr>
          <a:xfrm>
            <a:off x="8247888" y="4919472"/>
            <a:ext cx="82296" cy="1051560"/>
          </a:xfrm>
          <a:prstGeom prst="roundRect">
            <a:avLst/>
          </a:prstGeom>
          <a:solidFill>
            <a:srgbClr val="2F9E93"/>
          </a:solidFill>
          <a:ln/>
        </p:spPr>
      </p:sp>
      <p:sp>
        <p:nvSpPr>
          <p:cNvPr id="36" name="Text 34"/>
          <p:cNvSpPr/>
          <p:nvPr/>
        </p:nvSpPr>
        <p:spPr>
          <a:xfrm>
            <a:off x="8430768" y="4901184"/>
            <a:ext cx="3108960" cy="3657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Transaction Origin</a:t>
            </a:r>
            <a:endParaRPr lang="en-US" sz="1300" dirty="0"/>
          </a:p>
        </p:txBody>
      </p:sp>
      <p:sp>
        <p:nvSpPr>
          <p:cNvPr id="37" name="Text 35"/>
          <p:cNvSpPr/>
          <p:nvPr/>
        </p:nvSpPr>
        <p:spPr>
          <a:xfrm>
            <a:off x="8430768" y="5266944"/>
            <a:ext cx="3108960" cy="731520"/>
          </a:xfrm>
          <a:prstGeom prst="rect">
            <a:avLst/>
          </a:prstGeom>
          <a:noFill/>
          <a:ln/>
        </p:spPr>
        <p:txBody>
          <a:bodyPr wrap="square" rtlCol="0" anchor="ctr"/>
          <a:lstStyle/>
          <a:p>
            <a:pPr marL="0" indent="0">
              <a:lnSpc>
                <a:spcPct val="112000"/>
              </a:lnSpc>
              <a:buNone/>
            </a:pPr>
            <a:r>
              <a:rPr lang="en-US" sz="1050" dirty="0">
                <a:solidFill>
                  <a:srgbClr val="263238"/>
                </a:solidFill>
                <a:latin typeface="Calibri" pitchFamily="34" charset="0"/>
                <a:ea typeface="Calibri" pitchFamily="34" charset="-122"/>
                <a:cs typeface="Calibri" pitchFamily="34" charset="-120"/>
              </a:rPr>
              <a:t>Domestic vs. international transaction status</a:t>
            </a:r>
            <a:endParaRPr lang="en-US" sz="1050" dirty="0"/>
          </a:p>
        </p:txBody>
      </p:sp>
      <p:sp>
        <p:nvSpPr>
          <p:cNvPr id="38" name="Text 36"/>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39" name="Text 3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THE BASELINE</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Overall Fraud Overview</a:t>
            </a:r>
            <a:endParaRPr lang="en-US" sz="2800" dirty="0"/>
          </a:p>
        </p:txBody>
      </p:sp>
      <p:pic>
        <p:nvPicPr>
          <p:cNvPr id="4" name="Image 0" descr="/mnt/user-data/uploads/1.png"/>
          <p:cNvPicPr>
            <a:picLocks noChangeAspect="1"/>
          </p:cNvPicPr>
          <p:nvPr/>
        </p:nvPicPr>
        <p:blipFill>
          <a:blip r:embed="rId3"/>
          <a:stretch>
            <a:fillRect/>
          </a:stretch>
        </p:blipFill>
        <p:spPr>
          <a:xfrm>
            <a:off x="457200" y="1511618"/>
            <a:ext cx="4160520" cy="2600325"/>
          </a:xfrm>
          <a:prstGeom prst="rect">
            <a:avLst/>
          </a:prstGeom>
        </p:spPr>
      </p:pic>
      <p:sp>
        <p:nvSpPr>
          <p:cNvPr id="5" name="Shape 2"/>
          <p:cNvSpPr/>
          <p:nvPr/>
        </p:nvSpPr>
        <p:spPr>
          <a:xfrm>
            <a:off x="4892040"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5029200" y="1581912"/>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1,000,000</a:t>
            </a:r>
            <a:endParaRPr lang="en-US" sz="1900" dirty="0"/>
          </a:p>
        </p:txBody>
      </p:sp>
      <p:sp>
        <p:nvSpPr>
          <p:cNvPr id="7" name="Text 4"/>
          <p:cNvSpPr/>
          <p:nvPr/>
        </p:nvSpPr>
        <p:spPr>
          <a:xfrm>
            <a:off x="5029200"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Transactions</a:t>
            </a:r>
            <a:endParaRPr lang="en-US" sz="1000" dirty="0"/>
          </a:p>
        </p:txBody>
      </p:sp>
      <p:sp>
        <p:nvSpPr>
          <p:cNvPr id="8" name="Shape 5"/>
          <p:cNvSpPr/>
          <p:nvPr/>
        </p:nvSpPr>
        <p:spPr>
          <a:xfrm>
            <a:off x="7214616"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9" name="Text 6"/>
          <p:cNvSpPr/>
          <p:nvPr/>
        </p:nvSpPr>
        <p:spPr>
          <a:xfrm>
            <a:off x="7351776" y="1581912"/>
            <a:ext cx="1920240" cy="566928"/>
          </a:xfrm>
          <a:prstGeom prst="rect">
            <a:avLst/>
          </a:prstGeom>
          <a:noFill/>
          <a:ln/>
        </p:spPr>
        <p:txBody>
          <a:bodyPr wrap="square" rtlCol="0" anchor="ctr"/>
          <a:lstStyle/>
          <a:p>
            <a:pPr marL="0" indent="0">
              <a:buNone/>
            </a:pPr>
            <a:r>
              <a:rPr lang="en-US" sz="1900" b="1" dirty="0">
                <a:solidFill>
                  <a:srgbClr val="2F3146"/>
                </a:solidFill>
                <a:latin typeface="Cambria" pitchFamily="34" charset="0"/>
                <a:ea typeface="Cambria" pitchFamily="34" charset="-122"/>
                <a:cs typeface="Cambria" pitchFamily="34" charset="-120"/>
              </a:rPr>
              <a:t>2020–2024</a:t>
            </a:r>
            <a:endParaRPr lang="en-US" sz="1900" dirty="0"/>
          </a:p>
        </p:txBody>
      </p:sp>
      <p:sp>
        <p:nvSpPr>
          <p:cNvPr id="10" name="Text 7"/>
          <p:cNvSpPr/>
          <p:nvPr/>
        </p:nvSpPr>
        <p:spPr>
          <a:xfrm>
            <a:off x="7351776"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Time Period</a:t>
            </a:r>
            <a:endParaRPr lang="en-US" sz="1000" dirty="0"/>
          </a:p>
        </p:txBody>
      </p:sp>
      <p:sp>
        <p:nvSpPr>
          <p:cNvPr id="11" name="Shape 8"/>
          <p:cNvSpPr/>
          <p:nvPr/>
        </p:nvSpPr>
        <p:spPr>
          <a:xfrm>
            <a:off x="9537192"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12" name="Text 9"/>
          <p:cNvSpPr/>
          <p:nvPr/>
        </p:nvSpPr>
        <p:spPr>
          <a:xfrm>
            <a:off x="9674352" y="1581912"/>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55,255</a:t>
            </a:r>
            <a:endParaRPr lang="en-US" sz="1900" dirty="0"/>
          </a:p>
        </p:txBody>
      </p:sp>
      <p:sp>
        <p:nvSpPr>
          <p:cNvPr id="13" name="Text 10"/>
          <p:cNvSpPr/>
          <p:nvPr/>
        </p:nvSpPr>
        <p:spPr>
          <a:xfrm>
            <a:off x="9674352"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Fraud Transactions</a:t>
            </a:r>
            <a:endParaRPr lang="en-US" sz="1000" dirty="0"/>
          </a:p>
        </p:txBody>
      </p:sp>
      <p:sp>
        <p:nvSpPr>
          <p:cNvPr id="14" name="Shape 11"/>
          <p:cNvSpPr/>
          <p:nvPr/>
        </p:nvSpPr>
        <p:spPr>
          <a:xfrm>
            <a:off x="4892040" y="2825496"/>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15" name="Text 12"/>
          <p:cNvSpPr/>
          <p:nvPr/>
        </p:nvSpPr>
        <p:spPr>
          <a:xfrm>
            <a:off x="5029200" y="2990088"/>
            <a:ext cx="1920240" cy="566928"/>
          </a:xfrm>
          <a:prstGeom prst="rect">
            <a:avLst/>
          </a:prstGeom>
          <a:noFill/>
          <a:ln/>
        </p:spPr>
        <p:txBody>
          <a:bodyPr wrap="square" rtlCol="0" anchor="ctr"/>
          <a:lstStyle/>
          <a:p>
            <a:pPr marL="0" indent="0">
              <a:buNone/>
            </a:pPr>
            <a:r>
              <a:rPr lang="en-US" sz="1900" b="1" dirty="0" smtClean="0">
                <a:solidFill>
                  <a:srgbClr val="D1495B"/>
                </a:solidFill>
                <a:latin typeface="Cambria" pitchFamily="34" charset="0"/>
                <a:ea typeface="Cambria" pitchFamily="34" charset="-122"/>
                <a:cs typeface="Cambria" pitchFamily="34" charset="-120"/>
              </a:rPr>
              <a:t>5.53%</a:t>
            </a:r>
            <a:endParaRPr lang="en-US" sz="1900" dirty="0"/>
          </a:p>
        </p:txBody>
      </p:sp>
      <p:sp>
        <p:nvSpPr>
          <p:cNvPr id="16" name="Text 13"/>
          <p:cNvSpPr/>
          <p:nvPr/>
        </p:nvSpPr>
        <p:spPr>
          <a:xfrm>
            <a:off x="5029200" y="3575304"/>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Fraud Rate</a:t>
            </a:r>
            <a:endParaRPr lang="en-US" sz="1000" dirty="0"/>
          </a:p>
        </p:txBody>
      </p:sp>
      <p:sp>
        <p:nvSpPr>
          <p:cNvPr id="17" name="Shape 14"/>
          <p:cNvSpPr/>
          <p:nvPr/>
        </p:nvSpPr>
        <p:spPr>
          <a:xfrm>
            <a:off x="7214616" y="2825496"/>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18" name="Text 15"/>
          <p:cNvSpPr/>
          <p:nvPr/>
        </p:nvSpPr>
        <p:spPr>
          <a:xfrm>
            <a:off x="7351776" y="2990088"/>
            <a:ext cx="1920240" cy="566928"/>
          </a:xfrm>
          <a:prstGeom prst="rect">
            <a:avLst/>
          </a:prstGeom>
          <a:noFill/>
          <a:ln/>
        </p:spPr>
        <p:txBody>
          <a:bodyPr wrap="square" rtlCol="0" anchor="ctr"/>
          <a:lstStyle/>
          <a:p>
            <a:pPr marL="0" indent="0">
              <a:buNone/>
            </a:pPr>
            <a:r>
              <a:rPr lang="en-US" sz="1900" b="1" dirty="0">
                <a:solidFill>
                  <a:srgbClr val="2F3146"/>
                </a:solidFill>
                <a:latin typeface="Cambria" pitchFamily="34" charset="0"/>
                <a:ea typeface="Cambria" pitchFamily="34" charset="-122"/>
                <a:cs typeface="Cambria" pitchFamily="34" charset="-120"/>
              </a:rPr>
              <a:t>198,662</a:t>
            </a:r>
            <a:endParaRPr lang="en-US" sz="1900" dirty="0"/>
          </a:p>
        </p:txBody>
      </p:sp>
      <p:sp>
        <p:nvSpPr>
          <p:cNvPr id="19" name="Text 16"/>
          <p:cNvSpPr/>
          <p:nvPr/>
        </p:nvSpPr>
        <p:spPr>
          <a:xfrm>
            <a:off x="7351776" y="3575304"/>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Customers</a:t>
            </a:r>
            <a:endParaRPr lang="en-US" sz="1000" dirty="0"/>
          </a:p>
        </p:txBody>
      </p:sp>
      <p:sp>
        <p:nvSpPr>
          <p:cNvPr id="20" name="Shape 17"/>
          <p:cNvSpPr/>
          <p:nvPr/>
        </p:nvSpPr>
        <p:spPr>
          <a:xfrm>
            <a:off x="9537192" y="2825496"/>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21" name="Text 18"/>
          <p:cNvSpPr/>
          <p:nvPr/>
        </p:nvSpPr>
        <p:spPr>
          <a:xfrm>
            <a:off x="9674352" y="2990088"/>
            <a:ext cx="1920240" cy="566928"/>
          </a:xfrm>
          <a:prstGeom prst="rect">
            <a:avLst/>
          </a:prstGeom>
          <a:noFill/>
          <a:ln/>
        </p:spPr>
        <p:txBody>
          <a:bodyPr wrap="square" rtlCol="0" anchor="ctr"/>
          <a:lstStyle/>
          <a:p>
            <a:pPr marL="0" indent="0">
              <a:buNone/>
            </a:pPr>
            <a:r>
              <a:rPr lang="en-US" sz="1900" b="1" dirty="0">
                <a:solidFill>
                  <a:srgbClr val="2F3146"/>
                </a:solidFill>
                <a:latin typeface="Cambria" pitchFamily="34" charset="0"/>
                <a:ea typeface="Cambria" pitchFamily="34" charset="-122"/>
                <a:cs typeface="Cambria" pitchFamily="34" charset="-120"/>
              </a:rPr>
              <a:t>48,121</a:t>
            </a:r>
            <a:endParaRPr lang="en-US" sz="1900" dirty="0"/>
          </a:p>
        </p:txBody>
      </p:sp>
      <p:sp>
        <p:nvSpPr>
          <p:cNvPr id="22" name="Text 19"/>
          <p:cNvSpPr/>
          <p:nvPr/>
        </p:nvSpPr>
        <p:spPr>
          <a:xfrm>
            <a:off x="9674352" y="3575304"/>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Customers Affected by Fraud</a:t>
            </a:r>
            <a:endParaRPr lang="en-US" sz="1000" dirty="0"/>
          </a:p>
        </p:txBody>
      </p:sp>
      <p:sp>
        <p:nvSpPr>
          <p:cNvPr id="23" name="Shape 20"/>
          <p:cNvSpPr/>
          <p:nvPr/>
        </p:nvSpPr>
        <p:spPr>
          <a:xfrm>
            <a:off x="457200" y="4434840"/>
            <a:ext cx="11247120" cy="1965960"/>
          </a:xfrm>
          <a:prstGeom prst="roundRect">
            <a:avLst>
              <a:gd name="adj" fmla="val 3721"/>
            </a:avLst>
          </a:prstGeom>
          <a:solidFill>
            <a:srgbClr val="2F3146"/>
          </a:solidFill>
          <a:ln/>
        </p:spPr>
      </p:sp>
      <p:sp>
        <p:nvSpPr>
          <p:cNvPr id="24" name="Text 21"/>
          <p:cNvSpPr/>
          <p:nvPr/>
        </p:nvSpPr>
        <p:spPr>
          <a:xfrm>
            <a:off x="777240" y="4617720"/>
            <a:ext cx="5486400" cy="274320"/>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25" name="Text 22"/>
          <p:cNvSpPr/>
          <p:nvPr/>
        </p:nvSpPr>
        <p:spPr>
          <a:xfrm>
            <a:off x="768267" y="4800805"/>
            <a:ext cx="10607040" cy="1417320"/>
          </a:xfrm>
          <a:prstGeom prst="rect">
            <a:avLst/>
          </a:prstGeom>
          <a:noFill/>
          <a:ln/>
        </p:spPr>
        <p:txBody>
          <a:bodyPr wrap="square" rtlCol="0" anchor="ctr"/>
          <a:lstStyle/>
          <a:p>
            <a:pPr marL="177800" indent="-177800">
              <a:lnSpc>
                <a:spcPct val="110000"/>
              </a:lnSpc>
              <a:spcAft>
                <a:spcPts val="800"/>
              </a:spcAft>
              <a:buSzPct val="100000"/>
              <a:buChar char="•"/>
            </a:pPr>
            <a:r>
              <a:rPr lang="en-US" sz="1200" dirty="0">
                <a:solidFill>
                  <a:srgbClr val="E4E7ED"/>
                </a:solidFill>
                <a:latin typeface="Calibri" pitchFamily="34" charset="0"/>
                <a:ea typeface="Calibri" pitchFamily="34" charset="-122"/>
                <a:cs typeface="Calibri" pitchFamily="34" charset="-120"/>
              </a:rPr>
              <a:t>Across the full dataset, 55,255 of 1,000,000 transactions were fraudulent — an overall fraud rate of approximately 5.53%.</a:t>
            </a:r>
            <a:endParaRPr lang="en-US" sz="1200" dirty="0"/>
          </a:p>
          <a:p>
            <a:pPr marL="177800" indent="-177800">
              <a:lnSpc>
                <a:spcPct val="110000"/>
              </a:lnSpc>
              <a:spcAft>
                <a:spcPts val="800"/>
              </a:spcAft>
              <a:buSzPct val="100000"/>
              <a:buChar char="•"/>
            </a:pPr>
            <a:r>
              <a:rPr lang="en-US" sz="1200" dirty="0">
                <a:solidFill>
                  <a:srgbClr val="E4E7ED"/>
                </a:solidFill>
                <a:latin typeface="Calibri" pitchFamily="34" charset="0"/>
                <a:ea typeface="Calibri" pitchFamily="34" charset="-122"/>
                <a:cs typeface="Calibri" pitchFamily="34" charset="-120"/>
              </a:rPr>
              <a:t>Among 198,662 unique customers, 48,121 (about 24%) were affected by at least one fraudulent transaction — a meaningful share of the customer base.</a:t>
            </a:r>
            <a:endParaRPr lang="en-US" sz="1200" dirty="0"/>
          </a:p>
          <a:p>
            <a:pPr marL="177800" indent="-177800">
              <a:lnSpc>
                <a:spcPct val="110000"/>
              </a:lnSpc>
              <a:buSzPct val="100000"/>
              <a:buChar char="•"/>
            </a:pPr>
            <a:r>
              <a:rPr lang="en-US" sz="1200" dirty="0">
                <a:solidFill>
                  <a:srgbClr val="E4E7ED"/>
                </a:solidFill>
                <a:latin typeface="Calibri" pitchFamily="34" charset="0"/>
                <a:ea typeface="Calibri" pitchFamily="34" charset="-122"/>
                <a:cs typeface="Calibri" pitchFamily="34" charset="-120"/>
              </a:rPr>
              <a:t>The overall fraud rate serves as the benchmark against which every customer segment, channel, country, and transaction characteristic is compared in this analysis</a:t>
            </a:r>
            <a:r>
              <a:rPr lang="en-US" sz="1200" dirty="0" smtClean="0">
                <a:solidFill>
                  <a:srgbClr val="E4E7ED"/>
                </a:solidFill>
                <a:latin typeface="Calibri" pitchFamily="34" charset="0"/>
                <a:ea typeface="Calibri" pitchFamily="34" charset="-122"/>
                <a:cs typeface="Calibri" pitchFamily="34" charset="-120"/>
              </a:rPr>
              <a:t>.</a:t>
            </a:r>
          </a:p>
        </p:txBody>
      </p:sp>
      <p:sp>
        <p:nvSpPr>
          <p:cNvPr id="26" name="Text 23"/>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27" name="Text 2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9" name="Text 22"/>
          <p:cNvSpPr/>
          <p:nvPr/>
        </p:nvSpPr>
        <p:spPr>
          <a:xfrm>
            <a:off x="1155229" y="4809949"/>
            <a:ext cx="10607040" cy="1417320"/>
          </a:xfrm>
          <a:prstGeom prst="rect">
            <a:avLst/>
          </a:prstGeom>
          <a:noFill/>
          <a:ln/>
        </p:spPr>
        <p:txBody>
          <a:bodyPr wrap="square" rtlCol="0" anchor="ctr"/>
          <a:lstStyle/>
          <a:p>
            <a:pPr marL="177800" indent="-177800">
              <a:lnSpc>
                <a:spcPct val="110000"/>
              </a:lnSpc>
              <a:spcAft>
                <a:spcPts val="800"/>
              </a:spcAft>
              <a:buSzPct val="100000"/>
              <a:buChar char="•"/>
            </a:pPr>
            <a:endParaRPr lang="en-US" sz="1200" dirty="0" smtClean="0">
              <a:solidFill>
                <a:srgbClr val="E4E7ED"/>
              </a:solidFill>
              <a:latin typeface="Calibri" pitchFamily="34" charset="0"/>
              <a:ea typeface="Calibri" pitchFamily="34" charset="-122"/>
              <a:cs typeface="Calibri"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THE LONG VIEW (2020–2024)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A Persistent, Not an Escalating, Problem</a:t>
            </a:r>
            <a:endParaRPr lang="en-US" sz="2800" dirty="0"/>
          </a:p>
        </p:txBody>
      </p:sp>
      <p:pic>
        <p:nvPicPr>
          <p:cNvPr id="4" name="Image 0" descr="/mnt/user-data/uploads/2.png"/>
          <p:cNvPicPr>
            <a:picLocks noChangeAspect="1"/>
          </p:cNvPicPr>
          <p:nvPr/>
        </p:nvPicPr>
        <p:blipFill>
          <a:blip r:embed="rId3"/>
          <a:stretch>
            <a:fillRect/>
          </a:stretch>
        </p:blipFill>
        <p:spPr>
          <a:xfrm>
            <a:off x="457200" y="1676101"/>
            <a:ext cx="6903720" cy="3405213"/>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263238"/>
                </a:solidFill>
                <a:latin typeface="Calibri" pitchFamily="34" charset="0"/>
                <a:ea typeface="Calibri" pitchFamily="34" charset="-122"/>
                <a:cs typeface="Calibri" pitchFamily="34" charset="-120"/>
              </a:rPr>
              <a:t>Annual transaction volume stayed close to 200,000 transactions every year from 2020 through 2024 — essentially flat, not growing.</a:t>
            </a:r>
            <a:endParaRPr lang="en-US" sz="1200" dirty="0">
              <a:solidFill>
                <a:srgbClr val="263238"/>
              </a:solidFill>
              <a:latin typeface="Calibri" pitchFamily="34" charset="0"/>
              <a:ea typeface="Calibri" pitchFamily="34" charset="-122"/>
              <a:cs typeface="Calibri" pitchFamily="34" charset="-120"/>
            </a:endParaRPr>
          </a:p>
          <a:p>
            <a:pPr marL="177800" indent="-177800">
              <a:lnSpc>
                <a:spcPct val="112000"/>
              </a:lnSpc>
              <a:spcAft>
                <a:spcPts val="1000"/>
              </a:spcAft>
              <a:buSzPct val="100000"/>
              <a:buChar char="•"/>
            </a:pPr>
            <a:r>
              <a:rPr lang="en-US" sz="1200" dirty="0">
                <a:solidFill>
                  <a:srgbClr val="263238"/>
                </a:solidFill>
                <a:latin typeface="Calibri" pitchFamily="34" charset="0"/>
                <a:ea typeface="Calibri" pitchFamily="34" charset="-122"/>
                <a:cs typeface="Calibri" pitchFamily="34" charset="-120"/>
              </a:rPr>
              <a:t>Annual </a:t>
            </a:r>
            <a:r>
              <a:rPr lang="en-US" sz="1200" dirty="0">
                <a:solidFill>
                  <a:srgbClr val="263238"/>
                </a:solidFill>
                <a:latin typeface="Calibri" pitchFamily="34" charset="0"/>
                <a:ea typeface="Calibri" pitchFamily="34" charset="-122"/>
                <a:cs typeface="Calibri" pitchFamily="34" charset="-120"/>
              </a:rPr>
              <a:t>fraud rates were also stable, ranging from approximately 5.49% to 5.58% over the five-year period.</a:t>
            </a:r>
          </a:p>
          <a:p>
            <a:pPr marL="177800" indent="-177800">
              <a:lnSpc>
                <a:spcPct val="112000"/>
              </a:lnSpc>
              <a:spcAft>
                <a:spcPts val="1000"/>
              </a:spcAft>
              <a:buSzPct val="100000"/>
              <a:buChar char="•"/>
            </a:pPr>
            <a:r>
              <a:rPr lang="en-US" sz="1200" dirty="0">
                <a:solidFill>
                  <a:srgbClr val="263238"/>
                </a:solidFill>
                <a:latin typeface="Calibri" pitchFamily="34" charset="0"/>
                <a:ea typeface="Calibri" pitchFamily="34" charset="-122"/>
                <a:cs typeface="Calibri" pitchFamily="34" charset="-120"/>
              </a:rPr>
              <a:t>The stability of both transaction volume and fraud rate suggests that fraud is a persistent operational problem rather than a rapidly growing one.</a:t>
            </a:r>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This should not be read as strong transaction growth — volume is flat, not rising.</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marL="0" indent="0">
              <a:lnSpc>
                <a:spcPct val="115000"/>
              </a:lnSpc>
              <a:buNone/>
            </a:pPr>
            <a:r>
              <a:rPr lang="en-US" sz="1280" b="1" dirty="0">
                <a:solidFill>
                  <a:srgbClr val="2F9E93"/>
                </a:solidFill>
                <a:latin typeface="Calibri" pitchFamily="34" charset="0"/>
                <a:ea typeface="Calibri" pitchFamily="34" charset="-122"/>
                <a:cs typeface="Calibri" pitchFamily="34" charset="-120"/>
              </a:rPr>
              <a:t>Recommendation:  </a:t>
            </a:r>
            <a:r>
              <a:rPr lang="en-US" sz="1280" dirty="0" smtClean="0">
                <a:solidFill>
                  <a:srgbClr val="E4E7ED"/>
                </a:solidFill>
                <a:latin typeface="Calibri" pitchFamily="34" charset="0"/>
                <a:ea typeface="Calibri" pitchFamily="34" charset="-122"/>
                <a:cs typeface="Calibri" pitchFamily="34" charset="-120"/>
              </a:rPr>
              <a:t>Since </a:t>
            </a:r>
            <a:r>
              <a:rPr lang="en-US" sz="1280" dirty="0">
                <a:solidFill>
                  <a:srgbClr val="E4E7ED"/>
                </a:solidFill>
                <a:latin typeface="Calibri" pitchFamily="34" charset="0"/>
                <a:ea typeface="Calibri" pitchFamily="34" charset="-122"/>
                <a:cs typeface="Calibri" pitchFamily="34" charset="-120"/>
              </a:rPr>
              <a:t>the fraud rate has remained close to 5.5% for five years, fraud prevention should be treated as an ongoing operational priority rather than a one-time solution. </a:t>
            </a:r>
            <a:r>
              <a:rPr lang="en-US" sz="1280" dirty="0">
                <a:solidFill>
                  <a:srgbClr val="E4E7ED"/>
                </a:solidFill>
                <a:latin typeface="Calibri" pitchFamily="34" charset="0"/>
                <a:ea typeface="Calibri" pitchFamily="34" charset="-122"/>
                <a:cs typeface="Calibri" pitchFamily="34" charset="-120"/>
              </a:rPr>
              <a:t>The company should also analyze short-term trends and specific customer or transaction segments instead of assuming that a stable annual fraud rate means the risk is under control.</a:t>
            </a:r>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smtClean="0">
                <a:solidFill>
                  <a:srgbClr val="2F9E93"/>
                </a:solidFill>
                <a:latin typeface="Calibri" pitchFamily="34" charset="0"/>
                <a:ea typeface="Calibri" pitchFamily="34" charset="-122"/>
                <a:cs typeface="Calibri" pitchFamily="34" charset="-120"/>
              </a:rPr>
              <a:t>LATEST YEAR BASELINE (2024)</a:t>
            </a:r>
            <a:endParaRPr lang="en-US" sz="1200" dirty="0"/>
          </a:p>
        </p:txBody>
      </p:sp>
      <p:sp>
        <p:nvSpPr>
          <p:cNvPr id="60" name="Text 1"/>
          <p:cNvSpPr/>
          <p:nvPr/>
        </p:nvSpPr>
        <p:spPr>
          <a:xfrm>
            <a:off x="457200" y="621792"/>
            <a:ext cx="11247120" cy="685800"/>
          </a:xfrm>
          <a:prstGeom prst="rect">
            <a:avLst/>
          </a:prstGeom>
          <a:noFill/>
          <a:ln/>
        </p:spPr>
        <p:txBody>
          <a:bodyPr wrap="square" rtlCol="0" anchor="ctr"/>
          <a:lstStyle/>
          <a:p>
            <a:pPr marL="0" indent="0">
              <a:buNone/>
            </a:pPr>
            <a:r>
              <a:rPr lang="en-US" sz="2800" b="1" dirty="0" smtClean="0">
                <a:solidFill>
                  <a:srgbClr val="2F3146"/>
                </a:solidFill>
                <a:latin typeface="Cambria" pitchFamily="34" charset="0"/>
                <a:ea typeface="Cambria" pitchFamily="34" charset="-122"/>
                <a:cs typeface="Cambria" pitchFamily="34" charset="-120"/>
              </a:rPr>
              <a:t>2024 Fraud </a:t>
            </a:r>
            <a:r>
              <a:rPr lang="en-US" sz="2800" b="1" dirty="0">
                <a:solidFill>
                  <a:srgbClr val="2F3146"/>
                </a:solidFill>
                <a:latin typeface="Cambria" pitchFamily="34" charset="0"/>
                <a:ea typeface="Cambria" pitchFamily="34" charset="-122"/>
                <a:cs typeface="Cambria" pitchFamily="34" charset="-120"/>
              </a:rPr>
              <a:t>Overview</a:t>
            </a:r>
            <a:endParaRPr lang="en-US" sz="2800" dirty="0"/>
          </a:p>
        </p:txBody>
      </p:sp>
      <p:sp>
        <p:nvSpPr>
          <p:cNvPr id="62" name="Shape 2"/>
          <p:cNvSpPr/>
          <p:nvPr/>
        </p:nvSpPr>
        <p:spPr>
          <a:xfrm>
            <a:off x="4892040"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3" name="Text 3"/>
          <p:cNvSpPr/>
          <p:nvPr/>
        </p:nvSpPr>
        <p:spPr>
          <a:xfrm>
            <a:off x="5029200" y="1581912"/>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199,325</a:t>
            </a:r>
            <a:endParaRPr lang="en-US" sz="1900" dirty="0"/>
          </a:p>
        </p:txBody>
      </p:sp>
      <p:sp>
        <p:nvSpPr>
          <p:cNvPr id="64" name="Text 4"/>
          <p:cNvSpPr/>
          <p:nvPr/>
        </p:nvSpPr>
        <p:spPr>
          <a:xfrm>
            <a:off x="5029200"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Transactions</a:t>
            </a:r>
            <a:endParaRPr lang="en-US" sz="1000" dirty="0"/>
          </a:p>
        </p:txBody>
      </p:sp>
      <p:sp>
        <p:nvSpPr>
          <p:cNvPr id="68" name="Shape 8"/>
          <p:cNvSpPr/>
          <p:nvPr/>
        </p:nvSpPr>
        <p:spPr>
          <a:xfrm>
            <a:off x="7223760"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txBody>
          <a:bodyPr/>
          <a:lstStyle/>
          <a:p>
            <a:endParaRPr lang="en-US" dirty="0"/>
          </a:p>
        </p:txBody>
      </p:sp>
      <p:sp>
        <p:nvSpPr>
          <p:cNvPr id="69" name="Text 9"/>
          <p:cNvSpPr/>
          <p:nvPr/>
        </p:nvSpPr>
        <p:spPr>
          <a:xfrm>
            <a:off x="7360920" y="1581912"/>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10,949</a:t>
            </a:r>
            <a:endParaRPr lang="en-US" sz="1900" dirty="0"/>
          </a:p>
        </p:txBody>
      </p:sp>
      <p:sp>
        <p:nvSpPr>
          <p:cNvPr id="70" name="Text 10"/>
          <p:cNvSpPr/>
          <p:nvPr/>
        </p:nvSpPr>
        <p:spPr>
          <a:xfrm>
            <a:off x="7360920"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Fraud Transactions</a:t>
            </a:r>
            <a:endParaRPr lang="en-US" sz="1000" dirty="0"/>
          </a:p>
        </p:txBody>
      </p:sp>
      <p:sp>
        <p:nvSpPr>
          <p:cNvPr id="71" name="Shape 11"/>
          <p:cNvSpPr/>
          <p:nvPr/>
        </p:nvSpPr>
        <p:spPr>
          <a:xfrm>
            <a:off x="9555480" y="1417320"/>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72" name="Text 12"/>
          <p:cNvSpPr/>
          <p:nvPr/>
        </p:nvSpPr>
        <p:spPr>
          <a:xfrm>
            <a:off x="9692640" y="1581912"/>
            <a:ext cx="1920240" cy="566928"/>
          </a:xfrm>
          <a:prstGeom prst="rect">
            <a:avLst/>
          </a:prstGeom>
          <a:noFill/>
          <a:ln/>
        </p:spPr>
        <p:txBody>
          <a:bodyPr wrap="square" rtlCol="0" anchor="ctr"/>
          <a:lstStyle/>
          <a:p>
            <a:pPr marL="0" indent="0">
              <a:buNone/>
            </a:pPr>
            <a:r>
              <a:rPr lang="en-US" sz="1900" b="1" dirty="0" smtClean="0">
                <a:solidFill>
                  <a:srgbClr val="D1495B"/>
                </a:solidFill>
                <a:latin typeface="Cambria" pitchFamily="34" charset="0"/>
                <a:ea typeface="Cambria" pitchFamily="34" charset="-122"/>
                <a:cs typeface="Cambria" pitchFamily="34" charset="-120"/>
              </a:rPr>
              <a:t>5.49%</a:t>
            </a:r>
            <a:endParaRPr lang="en-US" sz="1900" dirty="0"/>
          </a:p>
        </p:txBody>
      </p:sp>
      <p:sp>
        <p:nvSpPr>
          <p:cNvPr id="73" name="Text 13"/>
          <p:cNvSpPr/>
          <p:nvPr/>
        </p:nvSpPr>
        <p:spPr>
          <a:xfrm>
            <a:off x="9692640" y="2167128"/>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Fraud Rate</a:t>
            </a:r>
            <a:endParaRPr lang="en-US" sz="1000" dirty="0"/>
          </a:p>
        </p:txBody>
      </p:sp>
      <p:sp>
        <p:nvSpPr>
          <p:cNvPr id="74" name="Shape 14"/>
          <p:cNvSpPr/>
          <p:nvPr/>
        </p:nvSpPr>
        <p:spPr>
          <a:xfrm>
            <a:off x="4901184" y="2825496"/>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75" name="Text 15"/>
          <p:cNvSpPr/>
          <p:nvPr/>
        </p:nvSpPr>
        <p:spPr>
          <a:xfrm>
            <a:off x="5038344" y="2990088"/>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126,236</a:t>
            </a:r>
            <a:endParaRPr lang="en-US" sz="1900" dirty="0"/>
          </a:p>
        </p:txBody>
      </p:sp>
      <p:sp>
        <p:nvSpPr>
          <p:cNvPr id="76" name="Text 16"/>
          <p:cNvSpPr/>
          <p:nvPr/>
        </p:nvSpPr>
        <p:spPr>
          <a:xfrm>
            <a:off x="5038344" y="3575304"/>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Total Customers</a:t>
            </a:r>
            <a:endParaRPr lang="en-US" sz="1000" dirty="0"/>
          </a:p>
        </p:txBody>
      </p:sp>
      <p:sp>
        <p:nvSpPr>
          <p:cNvPr id="77" name="Shape 17"/>
          <p:cNvSpPr/>
          <p:nvPr/>
        </p:nvSpPr>
        <p:spPr>
          <a:xfrm>
            <a:off x="7223760" y="2825496"/>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78" name="Text 18"/>
          <p:cNvSpPr/>
          <p:nvPr/>
        </p:nvSpPr>
        <p:spPr>
          <a:xfrm>
            <a:off x="7360920" y="2990088"/>
            <a:ext cx="1920240" cy="566928"/>
          </a:xfrm>
          <a:prstGeom prst="rect">
            <a:avLst/>
          </a:prstGeom>
          <a:noFill/>
          <a:ln/>
        </p:spPr>
        <p:txBody>
          <a:bodyPr wrap="square" rtlCol="0" anchor="ctr"/>
          <a:lstStyle/>
          <a:p>
            <a:pPr marL="0" indent="0">
              <a:buNone/>
            </a:pPr>
            <a:r>
              <a:rPr lang="en-US" sz="1900" b="1" dirty="0" smtClean="0">
                <a:solidFill>
                  <a:srgbClr val="2F3146"/>
                </a:solidFill>
                <a:latin typeface="Cambria" pitchFamily="34" charset="0"/>
                <a:ea typeface="Cambria" pitchFamily="34" charset="-122"/>
                <a:cs typeface="Cambria" pitchFamily="34" charset="-120"/>
              </a:rPr>
              <a:t>10,643</a:t>
            </a:r>
            <a:endParaRPr lang="en-US" sz="1900" dirty="0"/>
          </a:p>
        </p:txBody>
      </p:sp>
      <p:sp>
        <p:nvSpPr>
          <p:cNvPr id="79" name="Text 19"/>
          <p:cNvSpPr/>
          <p:nvPr/>
        </p:nvSpPr>
        <p:spPr>
          <a:xfrm>
            <a:off x="7360920" y="3575304"/>
            <a:ext cx="1920240" cy="457200"/>
          </a:xfrm>
          <a:prstGeom prst="rect">
            <a:avLst/>
          </a:prstGeom>
          <a:noFill/>
          <a:ln/>
        </p:spPr>
        <p:txBody>
          <a:bodyPr wrap="square" rtlCol="0" anchor="ctr"/>
          <a:lstStyle/>
          <a:p>
            <a:pPr marL="0" indent="0">
              <a:lnSpc>
                <a:spcPct val="105000"/>
              </a:lnSpc>
              <a:buNone/>
            </a:pPr>
            <a:r>
              <a:rPr lang="en-US" sz="1000" dirty="0">
                <a:solidFill>
                  <a:srgbClr val="6B7280"/>
                </a:solidFill>
                <a:latin typeface="Calibri" pitchFamily="34" charset="0"/>
                <a:ea typeface="Calibri" pitchFamily="34" charset="-122"/>
                <a:cs typeface="Calibri" pitchFamily="34" charset="-120"/>
              </a:rPr>
              <a:t>Customers Affected by Fraud</a:t>
            </a:r>
            <a:endParaRPr lang="en-US" sz="1000" dirty="0"/>
          </a:p>
        </p:txBody>
      </p:sp>
      <p:sp>
        <p:nvSpPr>
          <p:cNvPr id="80" name="Shape 20"/>
          <p:cNvSpPr/>
          <p:nvPr/>
        </p:nvSpPr>
        <p:spPr>
          <a:xfrm>
            <a:off x="457200" y="4434840"/>
            <a:ext cx="11247120" cy="1965960"/>
          </a:xfrm>
          <a:prstGeom prst="roundRect">
            <a:avLst>
              <a:gd name="adj" fmla="val 3721"/>
            </a:avLst>
          </a:prstGeom>
          <a:solidFill>
            <a:srgbClr val="2F3146"/>
          </a:solidFill>
          <a:ln/>
        </p:spPr>
      </p:sp>
      <p:sp>
        <p:nvSpPr>
          <p:cNvPr id="81" name="Text 21"/>
          <p:cNvSpPr/>
          <p:nvPr/>
        </p:nvSpPr>
        <p:spPr>
          <a:xfrm>
            <a:off x="777240" y="4617720"/>
            <a:ext cx="5486400" cy="274320"/>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82" name="Text 22"/>
          <p:cNvSpPr/>
          <p:nvPr/>
        </p:nvSpPr>
        <p:spPr>
          <a:xfrm>
            <a:off x="777240" y="4937760"/>
            <a:ext cx="10607040" cy="1320427"/>
          </a:xfrm>
          <a:prstGeom prst="rect">
            <a:avLst/>
          </a:prstGeom>
          <a:noFill/>
          <a:ln/>
        </p:spPr>
        <p:txBody>
          <a:bodyPr wrap="square" rtlCol="0" anchor="ctr"/>
          <a:lstStyle/>
          <a:p>
            <a:pPr marL="177800" indent="-177800">
              <a:lnSpc>
                <a:spcPct val="110000"/>
              </a:lnSpc>
              <a:spcAft>
                <a:spcPts val="800"/>
              </a:spcAft>
              <a:buSzPct val="100000"/>
              <a:buFontTx/>
              <a:buChar char="•"/>
            </a:pPr>
            <a:r>
              <a:rPr lang="en-US" sz="1200" dirty="0" smtClean="0">
                <a:solidFill>
                  <a:srgbClr val="E4E7ED"/>
                </a:solidFill>
                <a:latin typeface="Calibri" pitchFamily="34" charset="0"/>
                <a:ea typeface="Calibri" pitchFamily="34" charset="-122"/>
                <a:cs typeface="Calibri" pitchFamily="34" charset="-120"/>
              </a:rPr>
              <a:t>In </a:t>
            </a:r>
            <a:r>
              <a:rPr lang="en-US" sz="1200" dirty="0">
                <a:solidFill>
                  <a:srgbClr val="E4E7ED"/>
                </a:solidFill>
                <a:latin typeface="Calibri" pitchFamily="34" charset="0"/>
                <a:ea typeface="Calibri" pitchFamily="34" charset="-122"/>
                <a:cs typeface="Calibri" pitchFamily="34" charset="-120"/>
              </a:rPr>
              <a:t>2024, 10,949 of 199,325 transactions were fraudulent, producing a fraud rate of 5.49%. Among 126,236 unique customers, 10,643 were affected by at least one fraudulent transaction.</a:t>
            </a:r>
          </a:p>
          <a:p>
            <a:pPr marL="177800" indent="-177800">
              <a:lnSpc>
                <a:spcPct val="110000"/>
              </a:lnSpc>
              <a:spcAft>
                <a:spcPts val="800"/>
              </a:spcAft>
              <a:buSzPct val="100000"/>
              <a:buChar char="•"/>
            </a:pPr>
            <a:endParaRPr lang="en-US" sz="1200" dirty="0">
              <a:solidFill>
                <a:srgbClr val="E4E7ED"/>
              </a:solidFill>
              <a:latin typeface="Calibri" pitchFamily="34" charset="0"/>
              <a:ea typeface="Calibri" pitchFamily="34" charset="-122"/>
              <a:cs typeface="Calibri" pitchFamily="34" charset="-120"/>
            </a:endParaRPr>
          </a:p>
        </p:txBody>
      </p:sp>
      <p:sp>
        <p:nvSpPr>
          <p:cNvPr id="83" name="Text 23"/>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84" name="Text 2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pic>
        <p:nvPicPr>
          <p:cNvPr id="85" name="Picture 84" descr="3(2024)(1).png"/>
          <p:cNvPicPr>
            <a:picLocks noChangeAspect="1"/>
          </p:cNvPicPr>
          <p:nvPr/>
        </p:nvPicPr>
        <p:blipFill>
          <a:blip r:embed="rId2"/>
          <a:stretch>
            <a:fillRect/>
          </a:stretch>
        </p:blipFill>
        <p:spPr>
          <a:xfrm>
            <a:off x="459000" y="1511618"/>
            <a:ext cx="4158720" cy="2599200"/>
          </a:xfrm>
          <a:prstGeom prst="rect">
            <a:avLst/>
          </a:prstGeom>
        </p:spPr>
      </p:pic>
      <p:sp>
        <p:nvSpPr>
          <p:cNvPr id="86" name="Shape 11"/>
          <p:cNvSpPr/>
          <p:nvPr/>
        </p:nvSpPr>
        <p:spPr>
          <a:xfrm>
            <a:off x="9555480" y="2819498"/>
            <a:ext cx="2194560" cy="1298448"/>
          </a:xfrm>
          <a:prstGeom prst="roundRect">
            <a:avLst>
              <a:gd name="adj" fmla="val 5634"/>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87" name="Text 12"/>
          <p:cNvSpPr/>
          <p:nvPr/>
        </p:nvSpPr>
        <p:spPr>
          <a:xfrm>
            <a:off x="9692640" y="2984090"/>
            <a:ext cx="1920240" cy="566928"/>
          </a:xfrm>
          <a:prstGeom prst="rect">
            <a:avLst/>
          </a:prstGeom>
          <a:noFill/>
          <a:ln/>
        </p:spPr>
        <p:txBody>
          <a:bodyPr wrap="square" rtlCol="0" anchor="ctr"/>
          <a:lstStyle/>
          <a:p>
            <a:pPr marL="0" indent="0">
              <a:buNone/>
            </a:pPr>
            <a:r>
              <a:rPr lang="en-US" sz="1900" b="1" dirty="0" smtClean="0">
                <a:solidFill>
                  <a:srgbClr val="00B050"/>
                </a:solidFill>
                <a:latin typeface="Cambria" pitchFamily="34" charset="0"/>
                <a:ea typeface="Cambria" pitchFamily="34" charset="-122"/>
                <a:cs typeface="Cambria" pitchFamily="34" charset="-120"/>
              </a:rPr>
              <a:t>94.51%</a:t>
            </a:r>
            <a:endParaRPr lang="en-US" sz="1900" dirty="0">
              <a:solidFill>
                <a:srgbClr val="00B050"/>
              </a:solidFill>
            </a:endParaRPr>
          </a:p>
        </p:txBody>
      </p:sp>
      <p:sp>
        <p:nvSpPr>
          <p:cNvPr id="88" name="Text 13"/>
          <p:cNvSpPr/>
          <p:nvPr/>
        </p:nvSpPr>
        <p:spPr>
          <a:xfrm>
            <a:off x="9692640" y="3569306"/>
            <a:ext cx="1920240" cy="457200"/>
          </a:xfrm>
          <a:prstGeom prst="rect">
            <a:avLst/>
          </a:prstGeom>
          <a:noFill/>
          <a:ln/>
        </p:spPr>
        <p:txBody>
          <a:bodyPr wrap="square" rtlCol="0" anchor="ctr"/>
          <a:lstStyle/>
          <a:p>
            <a:pPr marL="0" indent="0">
              <a:lnSpc>
                <a:spcPct val="105000"/>
              </a:lnSpc>
              <a:buNone/>
            </a:pPr>
            <a:r>
              <a:rPr lang="en-US" sz="1000" dirty="0" smtClean="0">
                <a:solidFill>
                  <a:srgbClr val="6B7280"/>
                </a:solidFill>
                <a:latin typeface="Calibri" pitchFamily="34" charset="0"/>
                <a:ea typeface="Calibri" pitchFamily="34" charset="-122"/>
                <a:cs typeface="Calibri" pitchFamily="34" charset="-120"/>
              </a:rPr>
              <a:t>Non-Fraud </a:t>
            </a:r>
            <a:r>
              <a:rPr lang="en-US" sz="1000" dirty="0">
                <a:solidFill>
                  <a:srgbClr val="6B7280"/>
                </a:solidFill>
                <a:latin typeface="Calibri" pitchFamily="34" charset="0"/>
                <a:ea typeface="Calibri" pitchFamily="34" charset="-122"/>
                <a:cs typeface="Calibri" pitchFamily="34" charset="-120"/>
              </a:rPr>
              <a:t>Rate</a:t>
            </a:r>
            <a:endParaRPr lang="en-US" sz="1000" dirty="0"/>
          </a:p>
        </p:txBody>
      </p:sp>
    </p:spTree>
    <p:extLst>
      <p:ext uri="{BB962C8B-B14F-4D97-AF65-F5344CB8AC3E}">
        <p14:creationId xmlns:p14="http://schemas.microsoft.com/office/powerpoint/2010/main" val="3511244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FRAUD CONCENTRATION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Country-Level Fraud Concentration</a:t>
            </a:r>
            <a:endParaRPr lang="en-US" sz="2800" dirty="0"/>
          </a:p>
        </p:txBody>
      </p:sp>
      <p:pic>
        <p:nvPicPr>
          <p:cNvPr id="4" name="Image 0" descr="/mnt/user-data/uploads/4.png"/>
          <p:cNvPicPr>
            <a:picLocks noChangeAspect="1"/>
          </p:cNvPicPr>
          <p:nvPr/>
        </p:nvPicPr>
        <p:blipFill>
          <a:blip r:embed="rId3"/>
          <a:stretch>
            <a:fillRect/>
          </a:stretch>
        </p:blipFill>
        <p:spPr>
          <a:xfrm>
            <a:off x="457200" y="1676101"/>
            <a:ext cx="6903720" cy="3405213"/>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ctr"/>
          <a:lstStyle/>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The </a:t>
            </a:r>
            <a:r>
              <a:rPr lang="en-US" sz="1300" dirty="0">
                <a:solidFill>
                  <a:srgbClr val="263238"/>
                </a:solidFill>
                <a:latin typeface="Calibri" pitchFamily="34" charset="0"/>
                <a:ea typeface="Calibri" pitchFamily="34" charset="-122"/>
                <a:cs typeface="Calibri" pitchFamily="34" charset="-120"/>
              </a:rPr>
              <a:t>USA recorded the highest number of fraudulent transactions in 2024, with 3,315 cases, followed by India with 1,303 and the UK with 1,101.</a:t>
            </a:r>
          </a:p>
          <a:p>
            <a:pPr marL="177800" indent="-177800">
              <a:lnSpc>
                <a:spcPct val="128000"/>
              </a:lnSpc>
              <a:spcAft>
                <a:spcPts val="1400"/>
              </a:spcAft>
              <a:buSzPct val="100000"/>
              <a:buChar char="•"/>
            </a:pPr>
            <a:r>
              <a:rPr lang="en-US" sz="1300" dirty="0">
                <a:solidFill>
                  <a:srgbClr val="263238"/>
                </a:solidFill>
                <a:latin typeface="Calibri" pitchFamily="34" charset="0"/>
                <a:ea typeface="Calibri" pitchFamily="34" charset="-122"/>
                <a:cs typeface="Calibri" pitchFamily="34" charset="-120"/>
              </a:rPr>
              <a:t>Despite the differences in fraud counts, fraud rates across these countries were relatively similar, generally ranging from 5.1% to 5.7%.</a:t>
            </a:r>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High fraud counts can be driven by high transaction volume, so count alone can incorrectly flag a large market as high risk.</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a:lnSpc>
                <a:spcPct val="115000"/>
              </a:lnSpc>
            </a:pPr>
            <a:r>
              <a:rPr lang="en-US" sz="1280" b="1" dirty="0">
                <a:solidFill>
                  <a:srgbClr val="2F9E93"/>
                </a:solidFill>
                <a:latin typeface="Calibri" pitchFamily="34" charset="0"/>
                <a:ea typeface="Calibri" pitchFamily="34" charset="-122"/>
                <a:cs typeface="Calibri" pitchFamily="34" charset="-120"/>
              </a:rPr>
              <a:t>Recommendation:  </a:t>
            </a:r>
            <a:r>
              <a:rPr lang="en-US" sz="1280" dirty="0" smtClean="0">
                <a:solidFill>
                  <a:srgbClr val="E4E7ED"/>
                </a:solidFill>
                <a:latin typeface="Calibri" pitchFamily="34" charset="0"/>
                <a:ea typeface="Calibri" pitchFamily="34" charset="-122"/>
                <a:cs typeface="Calibri" pitchFamily="34" charset="-120"/>
              </a:rPr>
              <a:t>Use </a:t>
            </a:r>
            <a:r>
              <a:rPr lang="en-US" sz="1280" dirty="0">
                <a:solidFill>
                  <a:srgbClr val="E4E7ED"/>
                </a:solidFill>
                <a:latin typeface="Calibri" pitchFamily="34" charset="0"/>
                <a:ea typeface="Calibri" pitchFamily="34" charset="-122"/>
                <a:cs typeface="Calibri" pitchFamily="34" charset="-120"/>
              </a:rPr>
              <a:t>fraud count to plan the investigation workload and fraud rate to measure relative risk. </a:t>
            </a:r>
            <a:r>
              <a:rPr lang="en-US" sz="1280" dirty="0">
                <a:solidFill>
                  <a:srgbClr val="E4E7ED"/>
                </a:solidFill>
                <a:latin typeface="Calibri" pitchFamily="34" charset="0"/>
                <a:ea typeface="Calibri" pitchFamily="34" charset="-122"/>
                <a:cs typeface="Calibri" pitchFamily="34" charset="-120"/>
              </a:rPr>
              <a:t>Avoid classifying the USA as the highest-risk country based only on its number of fraudulent transactions.</a:t>
            </a:r>
            <a:endParaRPr lang="en-US" sz="1280" dirty="0">
              <a:solidFill>
                <a:srgbClr val="E4E7ED"/>
              </a:solidFill>
              <a:latin typeface="Calibri" pitchFamily="34" charset="0"/>
              <a:ea typeface="Calibri" pitchFamily="34" charset="-122"/>
              <a:cs typeface="Calibri" pitchFamily="34" charset="-120"/>
            </a:endParaRPr>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FRAUD CONCENTRATION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Payment Method Analysis</a:t>
            </a:r>
            <a:endParaRPr lang="en-US" sz="2800" dirty="0"/>
          </a:p>
        </p:txBody>
      </p:sp>
      <p:pic>
        <p:nvPicPr>
          <p:cNvPr id="4" name="Image 0" descr="/mnt/user-data/uploads/5.png"/>
          <p:cNvPicPr>
            <a:picLocks noChangeAspect="1"/>
          </p:cNvPicPr>
          <p:nvPr/>
        </p:nvPicPr>
        <p:blipFill>
          <a:blip r:embed="rId3"/>
          <a:stretch>
            <a:fillRect/>
          </a:stretch>
        </p:blipFill>
        <p:spPr>
          <a:xfrm>
            <a:off x="1221105" y="1481328"/>
            <a:ext cx="5375910" cy="3794760"/>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ctr"/>
          <a:lstStyle/>
          <a:p>
            <a:pPr marL="177800" indent="-177800">
              <a:lnSpc>
                <a:spcPct val="128000"/>
              </a:lnSpc>
              <a:spcAft>
                <a:spcPts val="1400"/>
              </a:spcAft>
              <a:buSzPct val="100000"/>
              <a:buChar char="•"/>
            </a:pPr>
            <a:endParaRPr lang="en-US" sz="1300" dirty="0" smtClean="0">
              <a:solidFill>
                <a:srgbClr val="263238"/>
              </a:solidFill>
              <a:latin typeface="Calibri" pitchFamily="34" charset="0"/>
              <a:ea typeface="Calibri" pitchFamily="34" charset="-122"/>
              <a:cs typeface="Calibri" pitchFamily="34" charset="-120"/>
            </a:endParaRP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Credit </a:t>
            </a:r>
            <a:r>
              <a:rPr lang="en-US" sz="1300" dirty="0">
                <a:solidFill>
                  <a:srgbClr val="263238"/>
                </a:solidFill>
                <a:latin typeface="Calibri" pitchFamily="34" charset="0"/>
                <a:ea typeface="Calibri" pitchFamily="34" charset="-122"/>
                <a:cs typeface="Calibri" pitchFamily="34" charset="-120"/>
              </a:rPr>
              <a:t>Cards accounted for the largest share of fraudulent transactions in 2024 at 35.6%, followed by Debit Cards at 29.4</a:t>
            </a:r>
            <a:r>
              <a:rPr lang="en-US" sz="1300" dirty="0" smtClean="0">
                <a:solidFill>
                  <a:srgbClr val="263238"/>
                </a:solidFill>
                <a:latin typeface="Calibri" pitchFamily="34" charset="0"/>
                <a:ea typeface="Calibri" pitchFamily="34" charset="-122"/>
                <a:cs typeface="Calibri" pitchFamily="34" charset="-120"/>
              </a:rPr>
              <a:t>%.</a:t>
            </a: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However</a:t>
            </a:r>
            <a:r>
              <a:rPr lang="en-US" sz="1300" dirty="0">
                <a:solidFill>
                  <a:srgbClr val="263238"/>
                </a:solidFill>
                <a:latin typeface="Calibri" pitchFamily="34" charset="0"/>
                <a:ea typeface="Calibri" pitchFamily="34" charset="-122"/>
                <a:cs typeface="Calibri" pitchFamily="34" charset="-120"/>
              </a:rPr>
              <a:t>, </a:t>
            </a:r>
            <a:r>
              <a:rPr lang="en-US" sz="1300" dirty="0" err="1">
                <a:solidFill>
                  <a:srgbClr val="263238"/>
                </a:solidFill>
                <a:latin typeface="Calibri" pitchFamily="34" charset="0"/>
                <a:ea typeface="Calibri" pitchFamily="34" charset="-122"/>
                <a:cs typeface="Calibri" pitchFamily="34" charset="-120"/>
              </a:rPr>
              <a:t>Cheque</a:t>
            </a:r>
            <a:r>
              <a:rPr lang="en-US" sz="1300" dirty="0">
                <a:solidFill>
                  <a:srgbClr val="263238"/>
                </a:solidFill>
                <a:latin typeface="Calibri" pitchFamily="34" charset="0"/>
                <a:ea typeface="Calibri" pitchFamily="34" charset="-122"/>
                <a:cs typeface="Calibri" pitchFamily="34" charset="-120"/>
              </a:rPr>
              <a:t> transactions had the highest fraud rate at 6.22%, while the fraud rates for other payment methods ranged from approximately 5.4% to 5.6%.</a:t>
            </a:r>
          </a:p>
          <a:p>
            <a:pPr marL="177800" indent="-177800">
              <a:lnSpc>
                <a:spcPct val="128000"/>
              </a:lnSpc>
              <a:spcAft>
                <a:spcPts val="1400"/>
              </a:spcAft>
              <a:buSzPct val="100000"/>
              <a:buChar char="•"/>
            </a:pPr>
            <a:endParaRPr lang="en-US" sz="1300" dirty="0">
              <a:solidFill>
                <a:srgbClr val="263238"/>
              </a:solidFill>
              <a:latin typeface="Calibri" pitchFamily="34" charset="0"/>
              <a:ea typeface="Calibri" pitchFamily="34" charset="-122"/>
              <a:cs typeface="Calibri" pitchFamily="34" charset="-120"/>
            </a:endParaRPr>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This chart shows fraud contribution (share of fraud cases), not fraud rate — the two tell different stories.</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a:lnSpc>
                <a:spcPct val="115000"/>
              </a:lnSpc>
            </a:pPr>
            <a:r>
              <a:rPr lang="en-US" sz="1280" b="1" dirty="0">
                <a:solidFill>
                  <a:srgbClr val="2F9E93"/>
                </a:solidFill>
                <a:latin typeface="Calibri" pitchFamily="34" charset="0"/>
                <a:ea typeface="Calibri" pitchFamily="34" charset="-122"/>
                <a:cs typeface="Calibri" pitchFamily="34" charset="-120"/>
              </a:rPr>
              <a:t>Recommendation</a:t>
            </a:r>
            <a:r>
              <a:rPr lang="en-US" sz="1280" dirty="0">
                <a:solidFill>
                  <a:srgbClr val="E4E7ED"/>
                </a:solidFill>
                <a:latin typeface="Calibri" pitchFamily="34" charset="0"/>
                <a:ea typeface="Calibri" pitchFamily="34" charset="-122"/>
                <a:cs typeface="Calibri" pitchFamily="34" charset="-120"/>
              </a:rPr>
              <a:t>:  Use fraud contribution to allocate investigation resources. Credit and Debit Cards require significant monitoring because of their high transaction volume. However, use fraud rate to assess the risk of each payment method and give special attention to </a:t>
            </a:r>
            <a:r>
              <a:rPr lang="en-US" sz="1280" dirty="0" err="1">
                <a:solidFill>
                  <a:srgbClr val="E4E7ED"/>
                </a:solidFill>
                <a:latin typeface="Calibri" pitchFamily="34" charset="0"/>
                <a:ea typeface="Calibri" pitchFamily="34" charset="-122"/>
                <a:cs typeface="Calibri" pitchFamily="34" charset="-120"/>
              </a:rPr>
              <a:t>Cheque</a:t>
            </a:r>
            <a:r>
              <a:rPr lang="en-US" sz="1280" dirty="0">
                <a:solidFill>
                  <a:srgbClr val="E4E7ED"/>
                </a:solidFill>
                <a:latin typeface="Calibri" pitchFamily="34" charset="0"/>
                <a:ea typeface="Calibri" pitchFamily="34" charset="-122"/>
                <a:cs typeface="Calibri" pitchFamily="34" charset="-120"/>
              </a:rPr>
              <a:t> transactions because of their higher fraud rate</a:t>
            </a:r>
            <a:r>
              <a:rPr lang="en-US" sz="1280" dirty="0" smtClean="0">
                <a:solidFill>
                  <a:srgbClr val="E4E7ED"/>
                </a:solidFill>
                <a:latin typeface="Calibri" pitchFamily="34" charset="0"/>
                <a:ea typeface="Calibri" pitchFamily="34" charset="-122"/>
                <a:cs typeface="Calibri" pitchFamily="34" charset="-120"/>
              </a:rPr>
              <a:t>.</a:t>
            </a:r>
            <a:endParaRPr lang="en-US" sz="1280" dirty="0"/>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15" name="Text 2"/>
          <p:cNvSpPr/>
          <p:nvPr/>
        </p:nvSpPr>
        <p:spPr>
          <a:xfrm>
            <a:off x="1221105" y="4850981"/>
            <a:ext cx="2286043" cy="320040"/>
          </a:xfrm>
          <a:prstGeom prst="rect">
            <a:avLst/>
          </a:prstGeom>
          <a:noFill/>
          <a:ln/>
        </p:spPr>
        <p:txBody>
          <a:bodyPr wrap="square" rtlCol="0" anchor="ctr"/>
          <a:lstStyle/>
          <a:p>
            <a:pPr marL="0" indent="0" algn="ctr">
              <a:buNone/>
            </a:pPr>
            <a:r>
              <a:rPr lang="en-US" sz="1100" b="1" i="1" dirty="0" smtClean="0">
                <a:solidFill>
                  <a:srgbClr val="6B7280"/>
                </a:solidFill>
                <a:latin typeface="Calibri" pitchFamily="34" charset="0"/>
                <a:ea typeface="Calibri" pitchFamily="34" charset="-122"/>
                <a:cs typeface="Calibri" pitchFamily="34" charset="-120"/>
              </a:rPr>
              <a:t>Total Fraud Transaction :- 10949 </a:t>
            </a:r>
            <a:endParaRPr lang="en-US" sz="1100"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FRAUD CONCENTRATION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Device-Level Fraud Distribution</a:t>
            </a:r>
            <a:endParaRPr lang="en-US" sz="2800" dirty="0"/>
          </a:p>
        </p:txBody>
      </p:sp>
      <p:pic>
        <p:nvPicPr>
          <p:cNvPr id="4" name="Image 0" descr="/mnt/user-data/uploads/8.png"/>
          <p:cNvPicPr>
            <a:picLocks noChangeAspect="1"/>
          </p:cNvPicPr>
          <p:nvPr/>
        </p:nvPicPr>
        <p:blipFill>
          <a:blip r:embed="rId3"/>
          <a:stretch>
            <a:fillRect/>
          </a:stretch>
        </p:blipFill>
        <p:spPr>
          <a:xfrm>
            <a:off x="976745" y="1481328"/>
            <a:ext cx="5864629" cy="3794760"/>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ctr"/>
          <a:lstStyle/>
          <a:p>
            <a:pPr marL="177800" indent="-177800">
              <a:lnSpc>
                <a:spcPct val="128000"/>
              </a:lnSpc>
              <a:spcAft>
                <a:spcPts val="1400"/>
              </a:spcAft>
              <a:buSzPct val="100000"/>
              <a:buChar char="•"/>
            </a:pPr>
            <a:endParaRPr lang="en-US" sz="1300" dirty="0" smtClean="0">
              <a:solidFill>
                <a:srgbClr val="263238"/>
              </a:solidFill>
              <a:latin typeface="Calibri" pitchFamily="34" charset="0"/>
              <a:ea typeface="Calibri" pitchFamily="34" charset="-122"/>
              <a:cs typeface="Calibri" pitchFamily="34" charset="-120"/>
            </a:endParaRP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Mobile </a:t>
            </a:r>
            <a:r>
              <a:rPr lang="en-US" sz="1300" dirty="0">
                <a:solidFill>
                  <a:srgbClr val="263238"/>
                </a:solidFill>
                <a:latin typeface="Calibri" pitchFamily="34" charset="0"/>
                <a:ea typeface="Calibri" pitchFamily="34" charset="-122"/>
                <a:cs typeface="Calibri" pitchFamily="34" charset="-120"/>
              </a:rPr>
              <a:t>devices recorded the highest number of fraudulent transactions in 2024, with 4,940 cases, accounting for 45.1% of all fraud, followed by Desktop devices with 2,690 cases (24.6</a:t>
            </a:r>
            <a:r>
              <a:rPr lang="en-US" sz="1300" dirty="0" smtClean="0">
                <a:solidFill>
                  <a:srgbClr val="263238"/>
                </a:solidFill>
                <a:latin typeface="Calibri" pitchFamily="34" charset="0"/>
                <a:ea typeface="Calibri" pitchFamily="34" charset="-122"/>
                <a:cs typeface="Calibri" pitchFamily="34" charset="-120"/>
              </a:rPr>
              <a:t>%).</a:t>
            </a: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However</a:t>
            </a:r>
            <a:r>
              <a:rPr lang="en-US" sz="1300" dirty="0">
                <a:solidFill>
                  <a:srgbClr val="263238"/>
                </a:solidFill>
                <a:latin typeface="Calibri" pitchFamily="34" charset="0"/>
                <a:ea typeface="Calibri" pitchFamily="34" charset="-122"/>
                <a:cs typeface="Calibri" pitchFamily="34" charset="-120"/>
              </a:rPr>
              <a:t>, fraud rates across different device types were relatively similar, ranging from approximately 5.34% to 5.62%.</a:t>
            </a:r>
          </a:p>
          <a:p>
            <a:pPr marL="177800" indent="-177800">
              <a:lnSpc>
                <a:spcPct val="128000"/>
              </a:lnSpc>
              <a:spcAft>
                <a:spcPts val="1400"/>
              </a:spcAft>
              <a:buSzPct val="100000"/>
              <a:buChar char="•"/>
            </a:pPr>
            <a:endParaRPr lang="en-US" sz="1300" dirty="0">
              <a:solidFill>
                <a:srgbClr val="263238"/>
              </a:solidFill>
              <a:latin typeface="Calibri" pitchFamily="34" charset="0"/>
              <a:ea typeface="Calibri" pitchFamily="34" charset="-122"/>
              <a:cs typeface="Calibri" pitchFamily="34" charset="-120"/>
            </a:endParaRPr>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High fraud volume on a device reflects high usage, not necessarily higher inherent risk.</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a:lnSpc>
                <a:spcPct val="115000"/>
              </a:lnSpc>
            </a:pPr>
            <a:r>
              <a:rPr lang="en-US" sz="1280" b="1" dirty="0">
                <a:solidFill>
                  <a:srgbClr val="2F9E93"/>
                </a:solidFill>
                <a:latin typeface="Calibri" pitchFamily="34" charset="0"/>
                <a:ea typeface="Calibri" pitchFamily="34" charset="-122"/>
                <a:cs typeface="Calibri" pitchFamily="34" charset="-120"/>
              </a:rPr>
              <a:t>Recommendation:  </a:t>
            </a:r>
            <a:r>
              <a:rPr lang="en-US" sz="1280" dirty="0">
                <a:solidFill>
                  <a:srgbClr val="E4E7ED"/>
                </a:solidFill>
                <a:latin typeface="Calibri" pitchFamily="34" charset="0"/>
                <a:ea typeface="Calibri" pitchFamily="34" charset="-122"/>
                <a:cs typeface="Calibri" pitchFamily="34" charset="-120"/>
              </a:rPr>
              <a:t>Prioritize fraud monitoring for Mobile devices because of their high number of fraud cases. However, do not classify Mobile as the highest-risk device based on fraud count alone. </a:t>
            </a:r>
            <a:r>
              <a:rPr lang="en-US" sz="1280" dirty="0">
                <a:solidFill>
                  <a:srgbClr val="E4E7ED"/>
                </a:solidFill>
                <a:latin typeface="Calibri" pitchFamily="34" charset="0"/>
                <a:ea typeface="Calibri" pitchFamily="34" charset="-122"/>
                <a:cs typeface="Calibri" pitchFamily="34" charset="-120"/>
              </a:rPr>
              <a:t>Use device-specific fraud rates and customer behavior patterns before introducing stronger fraud controls</a:t>
            </a:r>
            <a:r>
              <a:rPr lang="en-US" sz="1280" dirty="0" smtClean="0">
                <a:solidFill>
                  <a:srgbClr val="E4E7ED"/>
                </a:solidFill>
                <a:latin typeface="Calibri" pitchFamily="34" charset="0"/>
                <a:ea typeface="Calibri" pitchFamily="34" charset="-122"/>
                <a:cs typeface="Calibri" pitchFamily="34" charset="-120"/>
              </a:rPr>
              <a:t>.</a:t>
            </a:r>
            <a:endParaRPr lang="en-US" sz="1280" dirty="0"/>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15" name="Text 2"/>
          <p:cNvSpPr/>
          <p:nvPr/>
        </p:nvSpPr>
        <p:spPr>
          <a:xfrm>
            <a:off x="960076" y="4956048"/>
            <a:ext cx="2286043" cy="320040"/>
          </a:xfrm>
          <a:prstGeom prst="rect">
            <a:avLst/>
          </a:prstGeom>
          <a:noFill/>
          <a:ln/>
        </p:spPr>
        <p:txBody>
          <a:bodyPr wrap="square" rtlCol="0" anchor="ctr"/>
          <a:lstStyle/>
          <a:p>
            <a:pPr marL="0" indent="0" algn="ctr">
              <a:buNone/>
            </a:pPr>
            <a:r>
              <a:rPr lang="en-US" sz="1100" b="1" i="1" dirty="0" smtClean="0">
                <a:solidFill>
                  <a:srgbClr val="6B7280"/>
                </a:solidFill>
                <a:latin typeface="Calibri" pitchFamily="34" charset="0"/>
                <a:ea typeface="Calibri" pitchFamily="34" charset="-122"/>
                <a:cs typeface="Calibri" pitchFamily="34" charset="-120"/>
              </a:rPr>
              <a:t>Total Fraud Transaction :- 10949 </a:t>
            </a:r>
            <a:endParaRPr lang="en-US" sz="110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BEHAVIORAL PATTERNS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Fraud Timing Patterns</a:t>
            </a:r>
            <a:endParaRPr lang="en-US" sz="2800" dirty="0"/>
          </a:p>
        </p:txBody>
      </p:sp>
      <p:pic>
        <p:nvPicPr>
          <p:cNvPr id="4" name="Image 0" descr="/mnt/user-data/uploads/6.png"/>
          <p:cNvPicPr>
            <a:picLocks noChangeAspect="1"/>
          </p:cNvPicPr>
          <p:nvPr/>
        </p:nvPicPr>
        <p:blipFill>
          <a:blip r:embed="rId3"/>
          <a:stretch>
            <a:fillRect/>
          </a:stretch>
        </p:blipFill>
        <p:spPr>
          <a:xfrm>
            <a:off x="457200" y="1983631"/>
            <a:ext cx="6903720" cy="2790154"/>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ctr"/>
          <a:lstStyle/>
          <a:p>
            <a:pPr marL="177800" indent="-177800">
              <a:lnSpc>
                <a:spcPct val="128000"/>
              </a:lnSpc>
              <a:spcAft>
                <a:spcPts val="1400"/>
              </a:spcAft>
              <a:buSzPct val="100000"/>
              <a:buChar char="•"/>
            </a:pPr>
            <a:endParaRPr lang="en-US" sz="1300" dirty="0" smtClean="0">
              <a:solidFill>
                <a:srgbClr val="263238"/>
              </a:solidFill>
              <a:latin typeface="Calibri" pitchFamily="34" charset="0"/>
              <a:ea typeface="Calibri" pitchFamily="34" charset="-122"/>
              <a:cs typeface="Calibri" pitchFamily="34" charset="-120"/>
            </a:endParaRP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Fraud </a:t>
            </a:r>
            <a:r>
              <a:rPr lang="en-US" sz="1300" dirty="0">
                <a:solidFill>
                  <a:srgbClr val="263238"/>
                </a:solidFill>
                <a:latin typeface="Calibri" pitchFamily="34" charset="0"/>
                <a:ea typeface="Calibri" pitchFamily="34" charset="-122"/>
                <a:cs typeface="Calibri" pitchFamily="34" charset="-120"/>
              </a:rPr>
              <a:t>activity is not evenly distributed throughout the day. Late-night and early-morning hours, roughly from 22:00 to 06:00, often show higher fraud counts than many daytime </a:t>
            </a:r>
            <a:r>
              <a:rPr lang="en-US" sz="1300" dirty="0" smtClean="0">
                <a:solidFill>
                  <a:srgbClr val="263238"/>
                </a:solidFill>
                <a:latin typeface="Calibri" pitchFamily="34" charset="0"/>
                <a:ea typeface="Calibri" pitchFamily="34" charset="-122"/>
                <a:cs typeface="Calibri" pitchFamily="34" charset="-120"/>
              </a:rPr>
              <a:t>hours.</a:t>
            </a: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This </a:t>
            </a:r>
            <a:r>
              <a:rPr lang="en-US" sz="1300" dirty="0">
                <a:solidFill>
                  <a:srgbClr val="263238"/>
                </a:solidFill>
                <a:latin typeface="Calibri" pitchFamily="34" charset="0"/>
                <a:ea typeface="Calibri" pitchFamily="34" charset="-122"/>
                <a:cs typeface="Calibri" pitchFamily="34" charset="-120"/>
              </a:rPr>
              <a:t>pattern appears across most days of the week, suggesting a recurring fraud pattern rather than an isolated event.</a:t>
            </a:r>
          </a:p>
          <a:p>
            <a:pPr marL="177800" indent="-177800">
              <a:lnSpc>
                <a:spcPct val="128000"/>
              </a:lnSpc>
              <a:spcAft>
                <a:spcPts val="1400"/>
              </a:spcAft>
              <a:buSzPct val="100000"/>
              <a:buChar char="•"/>
            </a:pPr>
            <a:endParaRPr lang="en-US" sz="1300" dirty="0"/>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Compare fraud rates rather than raw counts by hour to account for normal variation in transaction volume throughout the day.</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a:lnSpc>
                <a:spcPct val="115000"/>
              </a:lnSpc>
            </a:pPr>
            <a:r>
              <a:rPr lang="en-US" sz="1280" b="1" dirty="0" smtClean="0">
                <a:solidFill>
                  <a:srgbClr val="2F9E93"/>
                </a:solidFill>
                <a:latin typeface="Calibri" pitchFamily="34" charset="0"/>
                <a:ea typeface="Calibri" pitchFamily="34" charset="-122"/>
                <a:cs typeface="Calibri" pitchFamily="34" charset="-120"/>
              </a:rPr>
              <a:t>Recommendation:  </a:t>
            </a:r>
            <a:r>
              <a:rPr lang="en-US" sz="1280" dirty="0" smtClean="0">
                <a:solidFill>
                  <a:srgbClr val="E4E7ED"/>
                </a:solidFill>
                <a:latin typeface="Calibri" pitchFamily="34" charset="0"/>
                <a:ea typeface="Calibri" pitchFamily="34" charset="-122"/>
                <a:cs typeface="Calibri" pitchFamily="34" charset="-120"/>
              </a:rPr>
              <a:t>Consider </a:t>
            </a:r>
            <a:r>
              <a:rPr lang="en-US" sz="1280" dirty="0">
                <a:solidFill>
                  <a:srgbClr val="E4E7ED"/>
                </a:solidFill>
                <a:latin typeface="Calibri" pitchFamily="34" charset="0"/>
                <a:ea typeface="Calibri" pitchFamily="34" charset="-122"/>
                <a:cs typeface="Calibri" pitchFamily="34" charset="-120"/>
              </a:rPr>
              <a:t>stronger fraud monitoring and verification during the overnight hours when fraud activity is consistently high. </a:t>
            </a:r>
            <a:r>
              <a:rPr lang="en-US" sz="1280" dirty="0">
                <a:solidFill>
                  <a:srgbClr val="E4E7ED"/>
                </a:solidFill>
                <a:latin typeface="Calibri" pitchFamily="34" charset="0"/>
                <a:ea typeface="Calibri" pitchFamily="34" charset="-122"/>
                <a:cs typeface="Calibri" pitchFamily="34" charset="-120"/>
              </a:rPr>
              <a:t>However, check the fraud rate, not just the fraud count, before introducing stricter controls.</a:t>
            </a:r>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BEHAVIORAL PATTERNS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Customer Age Distribution</a:t>
            </a:r>
            <a:endParaRPr lang="en-US" sz="2800" dirty="0"/>
          </a:p>
        </p:txBody>
      </p:sp>
      <p:pic>
        <p:nvPicPr>
          <p:cNvPr id="4" name="Image 0" descr="/mnt/user-data/uploads/9.png"/>
          <p:cNvPicPr>
            <a:picLocks noChangeAspect="1"/>
          </p:cNvPicPr>
          <p:nvPr/>
        </p:nvPicPr>
        <p:blipFill>
          <a:blip r:embed="rId3"/>
          <a:stretch>
            <a:fillRect/>
          </a:stretch>
        </p:blipFill>
        <p:spPr>
          <a:xfrm>
            <a:off x="746760" y="1481328"/>
            <a:ext cx="6324600" cy="3794760"/>
          </a:xfrm>
          <a:prstGeom prst="rect">
            <a:avLst/>
          </a:prstGeom>
        </p:spPr>
      </p:pic>
      <p:sp>
        <p:nvSpPr>
          <p:cNvPr id="5" name="Shape 2"/>
          <p:cNvSpPr/>
          <p:nvPr/>
        </p:nvSpPr>
        <p:spPr>
          <a:xfrm>
            <a:off x="7543800" y="1481328"/>
            <a:ext cx="4160520" cy="3794760"/>
          </a:xfrm>
          <a:prstGeom prst="roundRect">
            <a:avLst>
              <a:gd name="adj" fmla="val 1928"/>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818120" y="1709928"/>
            <a:ext cx="3611880" cy="292608"/>
          </a:xfrm>
          <a:prstGeom prst="rect">
            <a:avLst/>
          </a:prstGeom>
          <a:noFill/>
          <a:ln/>
        </p:spPr>
        <p:txBody>
          <a:bodyPr wrap="square" rtlCol="0" anchor="ctr"/>
          <a:lstStyle/>
          <a:p>
            <a:pPr marL="0" indent="0">
              <a:buNone/>
            </a:pPr>
            <a:r>
              <a:rPr lang="en-US" sz="1150" b="1" kern="0" spc="150" dirty="0">
                <a:solidFill>
                  <a:srgbClr val="2F9E93"/>
                </a:solidFill>
                <a:latin typeface="Calibri" pitchFamily="34" charset="0"/>
                <a:ea typeface="Calibri" pitchFamily="34" charset="-122"/>
                <a:cs typeface="Calibri" pitchFamily="34" charset="-120"/>
              </a:rPr>
              <a:t>KEY INSIGHTS</a:t>
            </a:r>
            <a:endParaRPr lang="en-US" sz="1150" dirty="0"/>
          </a:p>
        </p:txBody>
      </p:sp>
      <p:sp>
        <p:nvSpPr>
          <p:cNvPr id="7" name="Text 4"/>
          <p:cNvSpPr/>
          <p:nvPr/>
        </p:nvSpPr>
        <p:spPr>
          <a:xfrm>
            <a:off x="7818120" y="2048256"/>
            <a:ext cx="3611880" cy="2148840"/>
          </a:xfrm>
          <a:prstGeom prst="rect">
            <a:avLst/>
          </a:prstGeom>
          <a:noFill/>
          <a:ln/>
        </p:spPr>
        <p:txBody>
          <a:bodyPr wrap="square" rtlCol="0" anchor="ctr"/>
          <a:lstStyle/>
          <a:p>
            <a:pPr marL="177800" indent="-177800">
              <a:lnSpc>
                <a:spcPct val="128000"/>
              </a:lnSpc>
              <a:spcAft>
                <a:spcPts val="1400"/>
              </a:spcAft>
              <a:buSzPct val="100000"/>
              <a:buChar char="•"/>
            </a:pPr>
            <a:endParaRPr lang="en-US" sz="1300" dirty="0" smtClean="0">
              <a:solidFill>
                <a:srgbClr val="263238"/>
              </a:solidFill>
              <a:latin typeface="Calibri" pitchFamily="34" charset="0"/>
              <a:ea typeface="Calibri" pitchFamily="34" charset="-122"/>
              <a:cs typeface="Calibri" pitchFamily="34" charset="-120"/>
            </a:endParaRP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Among </a:t>
            </a:r>
            <a:r>
              <a:rPr lang="en-US" sz="1300" dirty="0">
                <a:solidFill>
                  <a:srgbClr val="263238"/>
                </a:solidFill>
                <a:latin typeface="Calibri" pitchFamily="34" charset="0"/>
                <a:ea typeface="Calibri" pitchFamily="34" charset="-122"/>
                <a:cs typeface="Calibri" pitchFamily="34" charset="-120"/>
              </a:rPr>
              <a:t>fraudulent transactions in 2024, the 35–44 age group recorded the highest fraud count, with 2,962 cases, followed by the 45–54 age group with 2,583 cases and the 25–34 age group with 2,212 </a:t>
            </a:r>
            <a:r>
              <a:rPr lang="en-US" sz="1300" dirty="0" smtClean="0">
                <a:solidFill>
                  <a:srgbClr val="263238"/>
                </a:solidFill>
                <a:latin typeface="Calibri" pitchFamily="34" charset="0"/>
                <a:ea typeface="Calibri" pitchFamily="34" charset="-122"/>
                <a:cs typeface="Calibri" pitchFamily="34" charset="-120"/>
              </a:rPr>
              <a:t>cases.</a:t>
            </a:r>
          </a:p>
          <a:p>
            <a:pPr marL="177800" indent="-177800">
              <a:lnSpc>
                <a:spcPct val="128000"/>
              </a:lnSpc>
              <a:spcAft>
                <a:spcPts val="1400"/>
              </a:spcAft>
              <a:buSzPct val="100000"/>
              <a:buChar char="•"/>
            </a:pPr>
            <a:r>
              <a:rPr lang="en-US" sz="1300" dirty="0" smtClean="0">
                <a:solidFill>
                  <a:srgbClr val="263238"/>
                </a:solidFill>
                <a:latin typeface="Calibri" pitchFamily="34" charset="0"/>
                <a:ea typeface="Calibri" pitchFamily="34" charset="-122"/>
                <a:cs typeface="Calibri" pitchFamily="34" charset="-120"/>
              </a:rPr>
              <a:t>Together</a:t>
            </a:r>
            <a:r>
              <a:rPr lang="en-US" sz="1300" dirty="0">
                <a:solidFill>
                  <a:srgbClr val="263238"/>
                </a:solidFill>
                <a:latin typeface="Calibri" pitchFamily="34" charset="0"/>
                <a:ea typeface="Calibri" pitchFamily="34" charset="-122"/>
                <a:cs typeface="Calibri" pitchFamily="34" charset="-120"/>
              </a:rPr>
              <a:t>, the three middle age groups (25–54) accounted for the majority of fraud cases in the dataset.</a:t>
            </a:r>
          </a:p>
          <a:p>
            <a:pPr marL="177800" indent="-177800">
              <a:lnSpc>
                <a:spcPct val="128000"/>
              </a:lnSpc>
              <a:spcAft>
                <a:spcPts val="1400"/>
              </a:spcAft>
              <a:buSzPct val="100000"/>
              <a:buChar char="•"/>
            </a:pPr>
            <a:endParaRPr lang="en-US" sz="1300" dirty="0">
              <a:solidFill>
                <a:srgbClr val="263238"/>
              </a:solidFill>
              <a:latin typeface="Calibri" pitchFamily="34" charset="0"/>
              <a:ea typeface="Calibri" pitchFamily="34" charset="-122"/>
              <a:cs typeface="Calibri" pitchFamily="34" charset="-120"/>
            </a:endParaRPr>
          </a:p>
        </p:txBody>
      </p:sp>
      <p:sp>
        <p:nvSpPr>
          <p:cNvPr id="8" name="Shape 5"/>
          <p:cNvSpPr/>
          <p:nvPr/>
        </p:nvSpPr>
        <p:spPr>
          <a:xfrm>
            <a:off x="7818120" y="4270248"/>
            <a:ext cx="3611880" cy="0"/>
          </a:xfrm>
          <a:prstGeom prst="line">
            <a:avLst/>
          </a:prstGeom>
          <a:noFill/>
          <a:ln w="12700">
            <a:solidFill>
              <a:srgbClr val="E3E6EC"/>
            </a:solidFill>
            <a:prstDash val="solid"/>
          </a:ln>
        </p:spPr>
      </p:sp>
      <p:sp>
        <p:nvSpPr>
          <p:cNvPr id="9" name="Text 6"/>
          <p:cNvSpPr/>
          <p:nvPr/>
        </p:nvSpPr>
        <p:spPr>
          <a:xfrm>
            <a:off x="7818120" y="4379976"/>
            <a:ext cx="3611880" cy="256032"/>
          </a:xfrm>
          <a:prstGeom prst="rect">
            <a:avLst/>
          </a:prstGeom>
          <a:noFill/>
          <a:ln/>
        </p:spPr>
        <p:txBody>
          <a:bodyPr wrap="square" rtlCol="0" anchor="ctr"/>
          <a:lstStyle/>
          <a:p>
            <a:pPr marL="0" indent="0">
              <a:buNone/>
            </a:pPr>
            <a:r>
              <a:rPr lang="en-US" sz="1000" b="1" kern="0" spc="150" dirty="0">
                <a:solidFill>
                  <a:srgbClr val="D1495B"/>
                </a:solidFill>
                <a:latin typeface="Calibri" pitchFamily="34" charset="0"/>
                <a:ea typeface="Calibri" pitchFamily="34" charset="-122"/>
                <a:cs typeface="Calibri" pitchFamily="34" charset="-120"/>
              </a:rPr>
              <a:t>NOTE</a:t>
            </a:r>
            <a:endParaRPr lang="en-US" sz="1000" dirty="0"/>
          </a:p>
        </p:txBody>
      </p:sp>
      <p:sp>
        <p:nvSpPr>
          <p:cNvPr id="10" name="Text 7"/>
          <p:cNvSpPr/>
          <p:nvPr/>
        </p:nvSpPr>
        <p:spPr>
          <a:xfrm>
            <a:off x="7818120" y="4654296"/>
            <a:ext cx="3611880" cy="484632"/>
          </a:xfrm>
          <a:prstGeom prst="rect">
            <a:avLst/>
          </a:prstGeom>
          <a:noFill/>
          <a:ln/>
        </p:spPr>
        <p:txBody>
          <a:bodyPr wrap="square" rtlCol="0" anchor="ctr"/>
          <a:lstStyle/>
          <a:p>
            <a:pPr marL="0" indent="0">
              <a:lnSpc>
                <a:spcPct val="112000"/>
              </a:lnSpc>
              <a:buNone/>
            </a:pPr>
            <a:r>
              <a:rPr lang="en-US" sz="1100" i="1" dirty="0">
                <a:solidFill>
                  <a:srgbClr val="6B7280"/>
                </a:solidFill>
                <a:latin typeface="Calibri" pitchFamily="34" charset="0"/>
                <a:ea typeface="Calibri" pitchFamily="34" charset="-122"/>
                <a:cs typeface="Calibri" pitchFamily="34" charset="-120"/>
              </a:rPr>
              <a:t>This is fraud-volume distribution, not proof that the 35–44 group is most vulnerable — fraud rate within each age group was not isolated here.</a:t>
            </a:r>
            <a:endParaRPr lang="en-US" sz="1100" dirty="0"/>
          </a:p>
        </p:txBody>
      </p:sp>
      <p:sp>
        <p:nvSpPr>
          <p:cNvPr id="11" name="Shape 8"/>
          <p:cNvSpPr/>
          <p:nvPr/>
        </p:nvSpPr>
        <p:spPr>
          <a:xfrm>
            <a:off x="457200" y="5440680"/>
            <a:ext cx="11247120" cy="960120"/>
          </a:xfrm>
          <a:prstGeom prst="roundRect">
            <a:avLst>
              <a:gd name="adj" fmla="val 7619"/>
            </a:avLst>
          </a:prstGeom>
          <a:solidFill>
            <a:srgbClr val="2F3146"/>
          </a:solidFill>
          <a:ln/>
        </p:spPr>
      </p:sp>
      <p:sp>
        <p:nvSpPr>
          <p:cNvPr id="12" name="Text 9"/>
          <p:cNvSpPr/>
          <p:nvPr/>
        </p:nvSpPr>
        <p:spPr>
          <a:xfrm>
            <a:off x="777240" y="5440680"/>
            <a:ext cx="10607040" cy="960120"/>
          </a:xfrm>
          <a:prstGeom prst="rect">
            <a:avLst/>
          </a:prstGeom>
          <a:noFill/>
          <a:ln/>
        </p:spPr>
        <p:txBody>
          <a:bodyPr wrap="square" rtlCol="0" anchor="ctr"/>
          <a:lstStyle/>
          <a:p>
            <a:pPr>
              <a:lnSpc>
                <a:spcPct val="115000"/>
              </a:lnSpc>
            </a:pPr>
            <a:r>
              <a:rPr lang="en-US" sz="1280" b="1" dirty="0">
                <a:solidFill>
                  <a:srgbClr val="2F9E93"/>
                </a:solidFill>
                <a:latin typeface="Calibri" pitchFamily="34" charset="0"/>
                <a:ea typeface="Calibri" pitchFamily="34" charset="-122"/>
                <a:cs typeface="Calibri" pitchFamily="34" charset="-120"/>
              </a:rPr>
              <a:t>Recommendation:  </a:t>
            </a:r>
            <a:r>
              <a:rPr lang="en-US" sz="1280" dirty="0" smtClean="0">
                <a:solidFill>
                  <a:srgbClr val="E4E7ED"/>
                </a:solidFill>
                <a:latin typeface="Calibri" pitchFamily="34" charset="0"/>
                <a:ea typeface="Calibri" pitchFamily="34" charset="-122"/>
                <a:cs typeface="Calibri" pitchFamily="34" charset="-120"/>
              </a:rPr>
              <a:t>Use </a:t>
            </a:r>
            <a:r>
              <a:rPr lang="en-US" sz="1280" dirty="0">
                <a:solidFill>
                  <a:srgbClr val="E4E7ED"/>
                </a:solidFill>
                <a:latin typeface="Calibri" pitchFamily="34" charset="0"/>
                <a:ea typeface="Calibri" pitchFamily="34" charset="-122"/>
                <a:cs typeface="Calibri" pitchFamily="34" charset="-120"/>
              </a:rPr>
              <a:t>these findings as a starting point for prioritizing fraud investigations, not as a final conclusion about risk. </a:t>
            </a:r>
            <a:r>
              <a:rPr lang="en-US" sz="1280" dirty="0">
                <a:solidFill>
                  <a:srgbClr val="E4E7ED"/>
                </a:solidFill>
                <a:latin typeface="Calibri" pitchFamily="34" charset="0"/>
                <a:ea typeface="Calibri" pitchFamily="34" charset="-122"/>
                <a:cs typeface="Calibri" pitchFamily="34" charset="-120"/>
              </a:rPr>
              <a:t>Calculate the fraud rate for each age group before introducing any age-specific fraud controls.</a:t>
            </a:r>
          </a:p>
        </p:txBody>
      </p:sp>
      <p:sp>
        <p:nvSpPr>
          <p:cNvPr id="13" name="Text 10"/>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4" name="Text 11"/>
          <p:cNvSpPr/>
          <p:nvPr/>
        </p:nvSpPr>
        <p:spPr>
          <a:xfrm>
            <a:off x="11277295" y="6528816"/>
            <a:ext cx="457200" cy="274320"/>
          </a:xfrm>
          <a:prstGeom prst="rect">
            <a:avLst/>
          </a:prstGeom>
          <a:noFill/>
          <a:ln/>
        </p:spPr>
        <p:txBody>
          <a:bodyPr wrap="square" rtlCol="0" anchor="ctr"/>
          <a:lstStyle/>
          <a:p>
            <a:pPr marL="0" indent="0" algn="r">
              <a:buNone/>
            </a:pPr>
            <a:r>
              <a:rPr lang="en-US" sz="900" dirty="0" smtClean="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MERCHANT CATEGORY RISK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Not All Merchant Categories Are Equal</a:t>
            </a:r>
            <a:endParaRPr lang="en-US" sz="2800" dirty="0"/>
          </a:p>
        </p:txBody>
      </p:sp>
      <p:pic>
        <p:nvPicPr>
          <p:cNvPr id="4" name="Image 0" descr="/mnt/user-data/uploads/10.png"/>
          <p:cNvPicPr>
            <a:picLocks noChangeAspect="1"/>
          </p:cNvPicPr>
          <p:nvPr/>
        </p:nvPicPr>
        <p:blipFill>
          <a:blip r:embed="rId3"/>
          <a:stretch>
            <a:fillRect/>
          </a:stretch>
        </p:blipFill>
        <p:spPr>
          <a:xfrm>
            <a:off x="525379" y="1508760"/>
            <a:ext cx="6173002" cy="3566160"/>
          </a:xfrm>
          <a:prstGeom prst="rect">
            <a:avLst/>
          </a:prstGeom>
        </p:spPr>
      </p:pic>
      <p:sp>
        <p:nvSpPr>
          <p:cNvPr id="5" name="Text 2"/>
          <p:cNvSpPr/>
          <p:nvPr/>
        </p:nvSpPr>
        <p:spPr>
          <a:xfrm>
            <a:off x="365760" y="5074920"/>
            <a:ext cx="6492240" cy="32004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Chart shows fraud COUNT by category, not fraud rate — see verified rates at right.</a:t>
            </a:r>
            <a:endParaRPr lang="en-US" sz="1000" dirty="0"/>
          </a:p>
        </p:txBody>
      </p:sp>
      <p:sp>
        <p:nvSpPr>
          <p:cNvPr id="6" name="Shape 3"/>
          <p:cNvSpPr/>
          <p:nvPr/>
        </p:nvSpPr>
        <p:spPr>
          <a:xfrm>
            <a:off x="7178040" y="1508760"/>
            <a:ext cx="4526280" cy="3566160"/>
          </a:xfrm>
          <a:prstGeom prst="roundRect">
            <a:avLst>
              <a:gd name="adj" fmla="val 2051"/>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7" name="Text 4"/>
          <p:cNvSpPr/>
          <p:nvPr/>
        </p:nvSpPr>
        <p:spPr>
          <a:xfrm>
            <a:off x="7498080" y="1737360"/>
            <a:ext cx="3931920" cy="365760"/>
          </a:xfrm>
          <a:prstGeom prst="rect">
            <a:avLst/>
          </a:prstGeom>
          <a:noFill/>
          <a:ln/>
        </p:spPr>
        <p:txBody>
          <a:bodyPr wrap="square" rtlCol="0" anchor="ctr"/>
          <a:lstStyle/>
          <a:p>
            <a:pPr marL="0" indent="0">
              <a:buNone/>
            </a:pPr>
            <a:r>
              <a:rPr lang="en-US" sz="1500" b="1" dirty="0">
                <a:solidFill>
                  <a:srgbClr val="2F3146"/>
                </a:solidFill>
                <a:latin typeface="Cambria" pitchFamily="34" charset="0"/>
                <a:ea typeface="Cambria" pitchFamily="34" charset="-122"/>
                <a:cs typeface="Cambria" pitchFamily="34" charset="-120"/>
              </a:rPr>
              <a:t>Verified Fraud Rates</a:t>
            </a:r>
            <a:endParaRPr lang="en-US" sz="1500" dirty="0"/>
          </a:p>
        </p:txBody>
      </p:sp>
      <p:sp>
        <p:nvSpPr>
          <p:cNvPr id="8" name="Text 5"/>
          <p:cNvSpPr/>
          <p:nvPr/>
        </p:nvSpPr>
        <p:spPr>
          <a:xfrm>
            <a:off x="7498080" y="2240280"/>
            <a:ext cx="2468880" cy="45720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Jewelry</a:t>
            </a:r>
            <a:endParaRPr lang="en-US" sz="1350" dirty="0"/>
          </a:p>
        </p:txBody>
      </p:sp>
      <p:sp>
        <p:nvSpPr>
          <p:cNvPr id="9" name="Text 6"/>
          <p:cNvSpPr/>
          <p:nvPr/>
        </p:nvSpPr>
        <p:spPr>
          <a:xfrm>
            <a:off x="9921240" y="2240280"/>
            <a:ext cx="1463040" cy="457200"/>
          </a:xfrm>
          <a:prstGeom prst="rect">
            <a:avLst/>
          </a:prstGeom>
          <a:noFill/>
          <a:ln/>
        </p:spPr>
        <p:txBody>
          <a:bodyPr wrap="square" rtlCol="0" anchor="ctr"/>
          <a:lstStyle/>
          <a:p>
            <a:pPr marL="0" indent="0" algn="r">
              <a:buNone/>
            </a:pPr>
            <a:r>
              <a:rPr lang="en-US" sz="1800" b="1" dirty="0">
                <a:solidFill>
                  <a:srgbClr val="D1495B"/>
                </a:solidFill>
                <a:latin typeface="Cambria" pitchFamily="34" charset="0"/>
                <a:ea typeface="Cambria" pitchFamily="34" charset="-122"/>
                <a:cs typeface="Cambria" pitchFamily="34" charset="-120"/>
              </a:rPr>
              <a:t>8.86%</a:t>
            </a:r>
            <a:endParaRPr lang="en-US" sz="1800" dirty="0"/>
          </a:p>
        </p:txBody>
      </p:sp>
      <p:sp>
        <p:nvSpPr>
          <p:cNvPr id="10" name="Text 7"/>
          <p:cNvSpPr/>
          <p:nvPr/>
        </p:nvSpPr>
        <p:spPr>
          <a:xfrm>
            <a:off x="7498080" y="2807208"/>
            <a:ext cx="2468880" cy="45720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ATM Withdrawal</a:t>
            </a:r>
            <a:endParaRPr lang="en-US" sz="1350" dirty="0"/>
          </a:p>
        </p:txBody>
      </p:sp>
      <p:sp>
        <p:nvSpPr>
          <p:cNvPr id="11" name="Text 8"/>
          <p:cNvSpPr/>
          <p:nvPr/>
        </p:nvSpPr>
        <p:spPr>
          <a:xfrm>
            <a:off x="9921240" y="2807208"/>
            <a:ext cx="1463040" cy="457200"/>
          </a:xfrm>
          <a:prstGeom prst="rect">
            <a:avLst/>
          </a:prstGeom>
          <a:noFill/>
          <a:ln/>
        </p:spPr>
        <p:txBody>
          <a:bodyPr wrap="square" rtlCol="0" anchor="ctr"/>
          <a:lstStyle/>
          <a:p>
            <a:pPr marL="0" indent="0" algn="r">
              <a:buNone/>
            </a:pPr>
            <a:r>
              <a:rPr lang="en-US" sz="1800" b="1" dirty="0">
                <a:solidFill>
                  <a:srgbClr val="D1495B"/>
                </a:solidFill>
                <a:latin typeface="Cambria" pitchFamily="34" charset="0"/>
                <a:ea typeface="Cambria" pitchFamily="34" charset="-122"/>
                <a:cs typeface="Cambria" pitchFamily="34" charset="-120"/>
              </a:rPr>
              <a:t>8.79%</a:t>
            </a:r>
            <a:endParaRPr lang="en-US" sz="1800" dirty="0"/>
          </a:p>
        </p:txBody>
      </p:sp>
      <p:sp>
        <p:nvSpPr>
          <p:cNvPr id="12" name="Text 9"/>
          <p:cNvSpPr/>
          <p:nvPr/>
        </p:nvSpPr>
        <p:spPr>
          <a:xfrm>
            <a:off x="7498080" y="3374136"/>
            <a:ext cx="2468880" cy="45720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Crypto Exchange</a:t>
            </a:r>
            <a:endParaRPr lang="en-US" sz="1350" dirty="0"/>
          </a:p>
        </p:txBody>
      </p:sp>
      <p:sp>
        <p:nvSpPr>
          <p:cNvPr id="13" name="Text 10"/>
          <p:cNvSpPr/>
          <p:nvPr/>
        </p:nvSpPr>
        <p:spPr>
          <a:xfrm>
            <a:off x="9921240" y="3374136"/>
            <a:ext cx="1463040" cy="457200"/>
          </a:xfrm>
          <a:prstGeom prst="rect">
            <a:avLst/>
          </a:prstGeom>
          <a:noFill/>
          <a:ln/>
        </p:spPr>
        <p:txBody>
          <a:bodyPr wrap="square" rtlCol="0" anchor="ctr"/>
          <a:lstStyle/>
          <a:p>
            <a:pPr marL="0" indent="0" algn="r">
              <a:buNone/>
            </a:pPr>
            <a:r>
              <a:rPr lang="en-US" sz="1800" b="1" dirty="0">
                <a:solidFill>
                  <a:srgbClr val="D1495B"/>
                </a:solidFill>
                <a:latin typeface="Cambria" pitchFamily="34" charset="0"/>
                <a:ea typeface="Cambria" pitchFamily="34" charset="-122"/>
                <a:cs typeface="Cambria" pitchFamily="34" charset="-120"/>
              </a:rPr>
              <a:t>8.71%</a:t>
            </a:r>
            <a:endParaRPr lang="en-US" sz="1800" dirty="0"/>
          </a:p>
        </p:txBody>
      </p:sp>
      <p:sp>
        <p:nvSpPr>
          <p:cNvPr id="14" name="Shape 11"/>
          <p:cNvSpPr/>
          <p:nvPr/>
        </p:nvSpPr>
        <p:spPr>
          <a:xfrm>
            <a:off x="7498080" y="3986784"/>
            <a:ext cx="3931920" cy="0"/>
          </a:xfrm>
          <a:prstGeom prst="line">
            <a:avLst/>
          </a:prstGeom>
          <a:noFill/>
          <a:ln w="12700">
            <a:solidFill>
              <a:srgbClr val="E3E6EC"/>
            </a:solidFill>
            <a:prstDash val="solid"/>
          </a:ln>
        </p:spPr>
      </p:sp>
      <p:sp>
        <p:nvSpPr>
          <p:cNvPr id="15" name="Text 12"/>
          <p:cNvSpPr/>
          <p:nvPr/>
        </p:nvSpPr>
        <p:spPr>
          <a:xfrm>
            <a:off x="7498080" y="4123944"/>
            <a:ext cx="3931920" cy="822960"/>
          </a:xfrm>
          <a:prstGeom prst="rect">
            <a:avLst/>
          </a:prstGeom>
          <a:noFill/>
          <a:ln/>
        </p:spPr>
        <p:txBody>
          <a:bodyPr wrap="square" rtlCol="0" anchor="ctr"/>
          <a:lstStyle/>
          <a:p>
            <a:pPr marL="0" indent="0">
              <a:lnSpc>
                <a:spcPct val="122000"/>
              </a:lnSpc>
              <a:buNone/>
            </a:pPr>
            <a:r>
              <a:rPr lang="en-US" sz="1150" i="1" dirty="0">
                <a:solidFill>
                  <a:srgbClr val="6B7280"/>
                </a:solidFill>
                <a:latin typeface="Calibri" pitchFamily="34" charset="0"/>
                <a:ea typeface="Calibri" pitchFamily="34" charset="-122"/>
                <a:cs typeface="Calibri" pitchFamily="34" charset="-120"/>
              </a:rPr>
              <a:t>For comparison, everyday categories sit far lower: Electronics (5.04%), Fuel (4.96%), and Healthcare (4.95%) — close to the dataset-wide average.</a:t>
            </a:r>
            <a:endParaRPr lang="en-US" sz="1150" i="1" dirty="0"/>
          </a:p>
        </p:txBody>
      </p:sp>
      <p:sp>
        <p:nvSpPr>
          <p:cNvPr id="18" name="Shape 15"/>
          <p:cNvSpPr/>
          <p:nvPr/>
        </p:nvSpPr>
        <p:spPr>
          <a:xfrm>
            <a:off x="457200" y="5440680"/>
            <a:ext cx="11247120" cy="960120"/>
          </a:xfrm>
          <a:prstGeom prst="roundRect">
            <a:avLst>
              <a:gd name="adj" fmla="val 7619"/>
            </a:avLst>
          </a:prstGeom>
          <a:solidFill>
            <a:srgbClr val="2F3146"/>
          </a:solidFill>
          <a:ln/>
        </p:spPr>
      </p:sp>
      <p:sp>
        <p:nvSpPr>
          <p:cNvPr id="19" name="Text 16"/>
          <p:cNvSpPr/>
          <p:nvPr/>
        </p:nvSpPr>
        <p:spPr>
          <a:xfrm>
            <a:off x="777240" y="5440680"/>
            <a:ext cx="10607040" cy="960120"/>
          </a:xfrm>
          <a:prstGeom prst="rect">
            <a:avLst/>
          </a:prstGeom>
          <a:noFill/>
          <a:ln/>
        </p:spPr>
        <p:txBody>
          <a:bodyPr wrap="square" rtlCol="0" anchor="ctr"/>
          <a:lstStyle/>
          <a:p>
            <a:pPr marL="0" indent="0">
              <a:lnSpc>
                <a:spcPct val="115000"/>
              </a:lnSpc>
              <a:buNone/>
            </a:pPr>
            <a:r>
              <a:rPr lang="en-US" sz="1280" b="1" dirty="0">
                <a:solidFill>
                  <a:srgbClr val="2F9E93"/>
                </a:solidFill>
                <a:latin typeface="Calibri" pitchFamily="34" charset="0"/>
                <a:ea typeface="Calibri" pitchFamily="34" charset="-122"/>
                <a:cs typeface="Calibri" pitchFamily="34" charset="-120"/>
              </a:rPr>
              <a:t>Recommendation:  </a:t>
            </a:r>
            <a:r>
              <a:rPr lang="en-US" sz="1280" dirty="0">
                <a:solidFill>
                  <a:srgbClr val="E4E7ED"/>
                </a:solidFill>
                <a:latin typeface="Calibri" pitchFamily="34" charset="0"/>
                <a:ea typeface="Calibri" pitchFamily="34" charset="-122"/>
                <a:cs typeface="Calibri" pitchFamily="34" charset="-120"/>
              </a:rPr>
              <a:t>Apply enhanced, risk-based monitoring and verification to these high-exposure categories rather than uniform controls.</a:t>
            </a:r>
            <a:endParaRPr lang="en-US" sz="1280" dirty="0"/>
          </a:p>
        </p:txBody>
      </p:sp>
      <p:sp>
        <p:nvSpPr>
          <p:cNvPr id="16" name="Text 13"/>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7" name="Text 14"/>
          <p:cNvSpPr/>
          <p:nvPr/>
        </p:nvSpPr>
        <p:spPr>
          <a:xfrm>
            <a:off x="11277295" y="6528816"/>
            <a:ext cx="457200" cy="274320"/>
          </a:xfrm>
          <a:prstGeom prst="rect">
            <a:avLst/>
          </a:prstGeom>
          <a:noFill/>
          <a:ln/>
        </p:spPr>
        <p:txBody>
          <a:bodyPr wrap="square" rtlCol="0" anchor="ctr"/>
          <a:lstStyle/>
          <a:p>
            <a:pPr marL="0" indent="0" algn="r">
              <a:buNone/>
            </a:pPr>
            <a:r>
              <a:rPr lang="en-US" sz="900" dirty="0" smtClean="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D1495B"/>
                </a:solidFill>
                <a:latin typeface="Calibri" pitchFamily="34" charset="0"/>
                <a:ea typeface="Calibri" pitchFamily="34" charset="-122"/>
                <a:cs typeface="Calibri" pitchFamily="34" charset="-120"/>
              </a:rPr>
              <a:t>STRONGEST OBSERVED RISK SIGNAL</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Failed Attempts and Fraud Rate</a:t>
            </a:r>
            <a:endParaRPr lang="en-US" sz="2800" dirty="0"/>
          </a:p>
        </p:txBody>
      </p:sp>
      <p:pic>
        <p:nvPicPr>
          <p:cNvPr id="4" name="Image 0" descr="/mnt/user-data/uploads/11.png"/>
          <p:cNvPicPr>
            <a:picLocks noChangeAspect="1"/>
          </p:cNvPicPr>
          <p:nvPr/>
        </p:nvPicPr>
        <p:blipFill>
          <a:blip r:embed="rId3"/>
          <a:stretch>
            <a:fillRect/>
          </a:stretch>
        </p:blipFill>
        <p:spPr>
          <a:xfrm>
            <a:off x="455791" y="1417320"/>
            <a:ext cx="7043698" cy="3794760"/>
          </a:xfrm>
          <a:prstGeom prst="rect">
            <a:avLst/>
          </a:prstGeom>
        </p:spPr>
      </p:pic>
      <p:sp>
        <p:nvSpPr>
          <p:cNvPr id="5" name="Shape 2"/>
          <p:cNvSpPr/>
          <p:nvPr/>
        </p:nvSpPr>
        <p:spPr>
          <a:xfrm>
            <a:off x="7818120" y="1463040"/>
            <a:ext cx="3931920" cy="960120"/>
          </a:xfrm>
          <a:prstGeom prst="roundRect">
            <a:avLst>
              <a:gd name="adj" fmla="val 7619"/>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8092440" y="1463040"/>
            <a:ext cx="2103120" cy="96012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0–1 failed attempts</a:t>
            </a:r>
            <a:endParaRPr lang="en-US" sz="1350" dirty="0"/>
          </a:p>
        </p:txBody>
      </p:sp>
      <p:sp>
        <p:nvSpPr>
          <p:cNvPr id="7" name="Text 4"/>
          <p:cNvSpPr/>
          <p:nvPr/>
        </p:nvSpPr>
        <p:spPr>
          <a:xfrm>
            <a:off x="10104120" y="1463040"/>
            <a:ext cx="1508760" cy="960120"/>
          </a:xfrm>
          <a:prstGeom prst="rect">
            <a:avLst/>
          </a:prstGeom>
          <a:noFill/>
          <a:ln/>
        </p:spPr>
        <p:txBody>
          <a:bodyPr wrap="square" rtlCol="0" anchor="ctr"/>
          <a:lstStyle/>
          <a:p>
            <a:pPr marL="0" indent="0" algn="r">
              <a:buNone/>
            </a:pPr>
            <a:r>
              <a:rPr lang="en-US" sz="2200" b="1" dirty="0">
                <a:solidFill>
                  <a:srgbClr val="2F9E93"/>
                </a:solidFill>
                <a:latin typeface="Cambria" pitchFamily="34" charset="0"/>
                <a:ea typeface="Cambria" pitchFamily="34" charset="-122"/>
                <a:cs typeface="Cambria" pitchFamily="34" charset="-120"/>
              </a:rPr>
              <a:t>4.51%</a:t>
            </a:r>
            <a:endParaRPr lang="en-US" sz="2200" dirty="0"/>
          </a:p>
        </p:txBody>
      </p:sp>
      <p:sp>
        <p:nvSpPr>
          <p:cNvPr id="8" name="Shape 5"/>
          <p:cNvSpPr/>
          <p:nvPr/>
        </p:nvSpPr>
        <p:spPr>
          <a:xfrm>
            <a:off x="7818120" y="2578608"/>
            <a:ext cx="3931920" cy="960120"/>
          </a:xfrm>
          <a:prstGeom prst="roundRect">
            <a:avLst>
              <a:gd name="adj" fmla="val 7619"/>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9" name="Text 6"/>
          <p:cNvSpPr/>
          <p:nvPr/>
        </p:nvSpPr>
        <p:spPr>
          <a:xfrm>
            <a:off x="8092440" y="2578608"/>
            <a:ext cx="2103120" cy="96012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2 failed attempts</a:t>
            </a:r>
            <a:endParaRPr lang="en-US" sz="1350" dirty="0"/>
          </a:p>
        </p:txBody>
      </p:sp>
      <p:sp>
        <p:nvSpPr>
          <p:cNvPr id="10" name="Text 7"/>
          <p:cNvSpPr/>
          <p:nvPr/>
        </p:nvSpPr>
        <p:spPr>
          <a:xfrm>
            <a:off x="10104120" y="2578608"/>
            <a:ext cx="1508760" cy="960120"/>
          </a:xfrm>
          <a:prstGeom prst="rect">
            <a:avLst/>
          </a:prstGeom>
          <a:noFill/>
          <a:ln/>
        </p:spPr>
        <p:txBody>
          <a:bodyPr wrap="square" rtlCol="0" anchor="ctr"/>
          <a:lstStyle/>
          <a:p>
            <a:pPr marL="0" indent="0" algn="r">
              <a:buNone/>
            </a:pPr>
            <a:r>
              <a:rPr lang="en-US" sz="2200" b="1" dirty="0">
                <a:solidFill>
                  <a:srgbClr val="D1495B"/>
                </a:solidFill>
                <a:latin typeface="Cambria" pitchFamily="34" charset="0"/>
                <a:ea typeface="Cambria" pitchFamily="34" charset="-122"/>
                <a:cs typeface="Cambria" pitchFamily="34" charset="-120"/>
              </a:rPr>
              <a:t>14.88%</a:t>
            </a:r>
            <a:endParaRPr lang="en-US" sz="2200" dirty="0"/>
          </a:p>
        </p:txBody>
      </p:sp>
      <p:sp>
        <p:nvSpPr>
          <p:cNvPr id="11" name="Shape 8"/>
          <p:cNvSpPr/>
          <p:nvPr/>
        </p:nvSpPr>
        <p:spPr>
          <a:xfrm>
            <a:off x="7818120" y="3694176"/>
            <a:ext cx="3931920" cy="960120"/>
          </a:xfrm>
          <a:prstGeom prst="roundRect">
            <a:avLst>
              <a:gd name="adj" fmla="val 7619"/>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12" name="Text 9"/>
          <p:cNvSpPr/>
          <p:nvPr/>
        </p:nvSpPr>
        <p:spPr>
          <a:xfrm>
            <a:off x="8092440" y="3694176"/>
            <a:ext cx="2103120" cy="960120"/>
          </a:xfrm>
          <a:prstGeom prst="rect">
            <a:avLst/>
          </a:prstGeom>
          <a:noFill/>
          <a:ln/>
        </p:spPr>
        <p:txBody>
          <a:bodyPr wrap="square" rtlCol="0" anchor="ctr"/>
          <a:lstStyle/>
          <a:p>
            <a:pPr marL="0" indent="0">
              <a:buNone/>
            </a:pPr>
            <a:r>
              <a:rPr lang="en-US" sz="1350" dirty="0">
                <a:solidFill>
                  <a:srgbClr val="263238"/>
                </a:solidFill>
                <a:latin typeface="Calibri" pitchFamily="34" charset="0"/>
                <a:ea typeface="Calibri" pitchFamily="34" charset="-122"/>
                <a:cs typeface="Calibri" pitchFamily="34" charset="-120"/>
              </a:rPr>
              <a:t>3–5 failed attempts</a:t>
            </a:r>
            <a:endParaRPr lang="en-US" sz="1350" dirty="0"/>
          </a:p>
        </p:txBody>
      </p:sp>
      <p:sp>
        <p:nvSpPr>
          <p:cNvPr id="13" name="Text 10"/>
          <p:cNvSpPr/>
          <p:nvPr/>
        </p:nvSpPr>
        <p:spPr>
          <a:xfrm>
            <a:off x="10104120" y="3694176"/>
            <a:ext cx="1508760" cy="960120"/>
          </a:xfrm>
          <a:prstGeom prst="rect">
            <a:avLst/>
          </a:prstGeom>
          <a:noFill/>
          <a:ln/>
        </p:spPr>
        <p:txBody>
          <a:bodyPr wrap="square" rtlCol="0" anchor="ctr"/>
          <a:lstStyle/>
          <a:p>
            <a:pPr marL="0" indent="0" algn="r">
              <a:buNone/>
            </a:pPr>
            <a:r>
              <a:rPr lang="en-US" sz="2200" b="1" dirty="0">
                <a:solidFill>
                  <a:srgbClr val="D1495B"/>
                </a:solidFill>
                <a:latin typeface="Cambria" pitchFamily="34" charset="0"/>
                <a:ea typeface="Cambria" pitchFamily="34" charset="-122"/>
                <a:cs typeface="Cambria" pitchFamily="34" charset="-120"/>
              </a:rPr>
              <a:t>13.7%–14.4%</a:t>
            </a:r>
            <a:endParaRPr lang="en-US" sz="2200" dirty="0"/>
          </a:p>
        </p:txBody>
      </p:sp>
      <p:sp>
        <p:nvSpPr>
          <p:cNvPr id="14" name="Shape 11"/>
          <p:cNvSpPr/>
          <p:nvPr/>
        </p:nvSpPr>
        <p:spPr>
          <a:xfrm>
            <a:off x="457200" y="5394960"/>
            <a:ext cx="11247120" cy="914400"/>
          </a:xfrm>
          <a:prstGeom prst="roundRect">
            <a:avLst>
              <a:gd name="adj" fmla="val 8000"/>
            </a:avLst>
          </a:prstGeom>
          <a:solidFill>
            <a:srgbClr val="2F3146"/>
          </a:solidFill>
          <a:ln/>
        </p:spPr>
      </p:sp>
      <p:sp>
        <p:nvSpPr>
          <p:cNvPr id="15" name="Text 12"/>
          <p:cNvSpPr/>
          <p:nvPr/>
        </p:nvSpPr>
        <p:spPr>
          <a:xfrm>
            <a:off x="777240" y="5394960"/>
            <a:ext cx="10607040" cy="914400"/>
          </a:xfrm>
          <a:prstGeom prst="rect">
            <a:avLst/>
          </a:prstGeom>
          <a:noFill/>
          <a:ln/>
        </p:spPr>
        <p:txBody>
          <a:bodyPr wrap="square" rtlCol="0" anchor="ctr"/>
          <a:lstStyle/>
          <a:p>
            <a:pPr marL="0" indent="0">
              <a:lnSpc>
                <a:spcPct val="115000"/>
              </a:lnSpc>
              <a:buNone/>
            </a:pPr>
            <a:r>
              <a:rPr lang="en-US" sz="1280" b="1" dirty="0">
                <a:solidFill>
                  <a:srgbClr val="FFFFFF"/>
                </a:solidFill>
                <a:latin typeface="Calibri" pitchFamily="34" charset="0"/>
                <a:ea typeface="Calibri" pitchFamily="34" charset="-122"/>
                <a:cs typeface="Calibri" pitchFamily="34" charset="-120"/>
              </a:rPr>
              <a:t>Fraud rate jumps sharply once failed attempts reach two or more. </a:t>
            </a:r>
            <a:r>
              <a:rPr lang="en-US" sz="1280" dirty="0">
                <a:solidFill>
                  <a:srgbClr val="D7DCE5"/>
                </a:solidFill>
                <a:latin typeface="Calibri" pitchFamily="34" charset="0"/>
                <a:ea typeface="Calibri" pitchFamily="34" charset="-122"/>
                <a:cs typeface="Calibri" pitchFamily="34" charset="-120"/>
              </a:rPr>
              <a:t>This is a strong observed association, not proven causation — treat repeated failed attempts as a high-priority signal for enhanced verification.</a:t>
            </a:r>
            <a:endParaRPr lang="en-US" sz="1280" dirty="0"/>
          </a:p>
        </p:txBody>
      </p:sp>
      <p:sp>
        <p:nvSpPr>
          <p:cNvPr id="16" name="Text 13"/>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7" name="Text 14"/>
          <p:cNvSpPr/>
          <p:nvPr/>
        </p:nvSpPr>
        <p:spPr>
          <a:xfrm>
            <a:off x="11277295" y="6528816"/>
            <a:ext cx="457200" cy="274320"/>
          </a:xfrm>
          <a:prstGeom prst="rect">
            <a:avLst/>
          </a:prstGeom>
          <a:noFill/>
          <a:ln/>
        </p:spPr>
        <p:txBody>
          <a:bodyPr wrap="square" rtlCol="0" anchor="ctr"/>
          <a:lstStyle/>
          <a:p>
            <a:pPr marL="0" indent="0" algn="r">
              <a:buNone/>
            </a:pPr>
            <a:r>
              <a:rPr lang="en-US" sz="900" dirty="0" smtClean="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CROSS-BORDER EXPOSURE (2024)</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International Transaction Risk</a:t>
            </a:r>
            <a:endParaRPr lang="en-US" sz="2800" dirty="0"/>
          </a:p>
        </p:txBody>
      </p:sp>
      <p:pic>
        <p:nvPicPr>
          <p:cNvPr id="4" name="Image 0" descr="/mnt/user-data/uploads/12.png"/>
          <p:cNvPicPr>
            <a:picLocks noChangeAspect="1"/>
          </p:cNvPicPr>
          <p:nvPr/>
        </p:nvPicPr>
        <p:blipFill>
          <a:blip r:embed="rId3"/>
          <a:stretch>
            <a:fillRect/>
          </a:stretch>
        </p:blipFill>
        <p:spPr>
          <a:xfrm>
            <a:off x="372806" y="1463040"/>
            <a:ext cx="6020948" cy="3977640"/>
          </a:xfrm>
          <a:prstGeom prst="rect">
            <a:avLst/>
          </a:prstGeom>
        </p:spPr>
      </p:pic>
      <p:sp>
        <p:nvSpPr>
          <p:cNvPr id="5" name="Shape 2"/>
          <p:cNvSpPr/>
          <p:nvPr/>
        </p:nvSpPr>
        <p:spPr>
          <a:xfrm>
            <a:off x="6766560" y="1691640"/>
            <a:ext cx="4937760" cy="1371600"/>
          </a:xfrm>
          <a:prstGeom prst="roundRect">
            <a:avLst>
              <a:gd name="adj" fmla="val 5333"/>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6" name="Text 3"/>
          <p:cNvSpPr/>
          <p:nvPr/>
        </p:nvSpPr>
        <p:spPr>
          <a:xfrm>
            <a:off x="7086600" y="1874520"/>
            <a:ext cx="429768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Domestic</a:t>
            </a:r>
            <a:endParaRPr lang="en-US" sz="1400" dirty="0"/>
          </a:p>
        </p:txBody>
      </p:sp>
      <p:sp>
        <p:nvSpPr>
          <p:cNvPr id="7" name="Text 4"/>
          <p:cNvSpPr/>
          <p:nvPr/>
        </p:nvSpPr>
        <p:spPr>
          <a:xfrm>
            <a:off x="7086600" y="2194560"/>
            <a:ext cx="4297680" cy="731520"/>
          </a:xfrm>
          <a:prstGeom prst="rect">
            <a:avLst/>
          </a:prstGeom>
          <a:noFill/>
          <a:ln/>
        </p:spPr>
        <p:txBody>
          <a:bodyPr wrap="square" rtlCol="0" anchor="ctr"/>
          <a:lstStyle/>
          <a:p>
            <a:pPr marL="0" indent="0">
              <a:buNone/>
            </a:pPr>
            <a:r>
              <a:rPr lang="en-US" sz="3400" b="1" dirty="0">
                <a:solidFill>
                  <a:srgbClr val="30476A"/>
                </a:solidFill>
                <a:latin typeface="Cambria" pitchFamily="34" charset="0"/>
                <a:ea typeface="Cambria" pitchFamily="34" charset="-122"/>
                <a:cs typeface="Cambria" pitchFamily="34" charset="-120"/>
              </a:rPr>
              <a:t>4.72%</a:t>
            </a:r>
            <a:endParaRPr lang="en-US" sz="3400" dirty="0"/>
          </a:p>
        </p:txBody>
      </p:sp>
      <p:sp>
        <p:nvSpPr>
          <p:cNvPr id="8" name="Shape 5"/>
          <p:cNvSpPr/>
          <p:nvPr/>
        </p:nvSpPr>
        <p:spPr>
          <a:xfrm>
            <a:off x="6766560" y="3291840"/>
            <a:ext cx="4937760" cy="1371600"/>
          </a:xfrm>
          <a:prstGeom prst="roundRect">
            <a:avLst>
              <a:gd name="adj" fmla="val 5333"/>
            </a:avLst>
          </a:prstGeom>
          <a:solidFill>
            <a:srgbClr val="FFFFFF"/>
          </a:solidFill>
          <a:ln w="12700">
            <a:solidFill>
              <a:srgbClr val="E3E6EC"/>
            </a:solidFill>
            <a:prstDash val="solid"/>
          </a:ln>
          <a:effectLst>
            <a:outerShdw blurRad="76200" dist="25400" dir="5400000" algn="bl" rotWithShape="0">
              <a:srgbClr val="1F2937">
                <a:alpha val="10000"/>
              </a:srgbClr>
            </a:outerShdw>
          </a:effectLst>
        </p:spPr>
      </p:sp>
      <p:sp>
        <p:nvSpPr>
          <p:cNvPr id="9" name="Text 6"/>
          <p:cNvSpPr/>
          <p:nvPr/>
        </p:nvSpPr>
        <p:spPr>
          <a:xfrm>
            <a:off x="7086600" y="3474720"/>
            <a:ext cx="429768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International</a:t>
            </a:r>
            <a:endParaRPr lang="en-US" sz="1400" dirty="0"/>
          </a:p>
        </p:txBody>
      </p:sp>
      <p:sp>
        <p:nvSpPr>
          <p:cNvPr id="10" name="Text 7"/>
          <p:cNvSpPr/>
          <p:nvPr/>
        </p:nvSpPr>
        <p:spPr>
          <a:xfrm>
            <a:off x="7086600" y="3794760"/>
            <a:ext cx="4297680" cy="731520"/>
          </a:xfrm>
          <a:prstGeom prst="rect">
            <a:avLst/>
          </a:prstGeom>
          <a:noFill/>
          <a:ln/>
        </p:spPr>
        <p:txBody>
          <a:bodyPr wrap="square" rtlCol="0" anchor="ctr"/>
          <a:lstStyle/>
          <a:p>
            <a:pPr marL="0" indent="0">
              <a:buNone/>
            </a:pPr>
            <a:r>
              <a:rPr lang="en-US" sz="3400" b="1" dirty="0">
                <a:solidFill>
                  <a:srgbClr val="D1495B"/>
                </a:solidFill>
                <a:latin typeface="Cambria" pitchFamily="34" charset="0"/>
                <a:ea typeface="Cambria" pitchFamily="34" charset="-122"/>
                <a:cs typeface="Cambria" pitchFamily="34" charset="-120"/>
              </a:rPr>
              <a:t>9.85%</a:t>
            </a:r>
            <a:endParaRPr lang="en-US" sz="3400" dirty="0"/>
          </a:p>
        </p:txBody>
      </p:sp>
      <p:sp>
        <p:nvSpPr>
          <p:cNvPr id="11" name="Text 8"/>
          <p:cNvSpPr/>
          <p:nvPr/>
        </p:nvSpPr>
        <p:spPr>
          <a:xfrm>
            <a:off x="6766560" y="4846320"/>
            <a:ext cx="4937760" cy="426720"/>
          </a:xfrm>
          <a:prstGeom prst="rect">
            <a:avLst/>
          </a:prstGeom>
          <a:noFill/>
          <a:ln/>
        </p:spPr>
        <p:txBody>
          <a:bodyPr wrap="square" rtlCol="0" anchor="ctr"/>
          <a:lstStyle/>
          <a:p>
            <a:pPr marL="0" indent="0">
              <a:lnSpc>
                <a:spcPct val="115000"/>
              </a:lnSpc>
              <a:buNone/>
            </a:pPr>
            <a:r>
              <a:rPr lang="en-US" sz="1250" i="1" dirty="0">
                <a:solidFill>
                  <a:srgbClr val="263238"/>
                </a:solidFill>
                <a:latin typeface="Calibri" pitchFamily="34" charset="0"/>
                <a:ea typeface="Calibri" pitchFamily="34" charset="-122"/>
                <a:cs typeface="Calibri" pitchFamily="34" charset="-120"/>
              </a:rPr>
              <a:t>International transactions show more than twice the fraud rate of domestic transactions in this dataset.</a:t>
            </a:r>
            <a:endParaRPr lang="en-US" sz="1250" dirty="0"/>
          </a:p>
        </p:txBody>
      </p:sp>
      <p:sp>
        <p:nvSpPr>
          <p:cNvPr id="12" name="Shape 9"/>
          <p:cNvSpPr/>
          <p:nvPr/>
        </p:nvSpPr>
        <p:spPr>
          <a:xfrm>
            <a:off x="457200" y="5409120"/>
            <a:ext cx="11247120" cy="960120"/>
          </a:xfrm>
          <a:prstGeom prst="roundRect">
            <a:avLst>
              <a:gd name="adj" fmla="val 7619"/>
            </a:avLst>
          </a:prstGeom>
          <a:solidFill>
            <a:srgbClr val="2F3146"/>
          </a:solidFill>
          <a:ln/>
        </p:spPr>
      </p:sp>
      <p:sp>
        <p:nvSpPr>
          <p:cNvPr id="13" name="Text 10"/>
          <p:cNvSpPr/>
          <p:nvPr/>
        </p:nvSpPr>
        <p:spPr>
          <a:xfrm>
            <a:off x="777240" y="5409120"/>
            <a:ext cx="10607040" cy="960120"/>
          </a:xfrm>
          <a:prstGeom prst="rect">
            <a:avLst/>
          </a:prstGeom>
          <a:noFill/>
          <a:ln/>
        </p:spPr>
        <p:txBody>
          <a:bodyPr wrap="square" rtlCol="0" anchor="ctr"/>
          <a:lstStyle/>
          <a:p>
            <a:pPr marL="0" indent="0">
              <a:lnSpc>
                <a:spcPct val="115000"/>
              </a:lnSpc>
              <a:buNone/>
            </a:pPr>
            <a:r>
              <a:rPr lang="en-US" sz="1280" b="1" dirty="0">
                <a:solidFill>
                  <a:srgbClr val="2F9E93"/>
                </a:solidFill>
                <a:latin typeface="Calibri" pitchFamily="34" charset="0"/>
                <a:ea typeface="Calibri" pitchFamily="34" charset="-122"/>
                <a:cs typeface="Calibri" pitchFamily="34" charset="-120"/>
              </a:rPr>
              <a:t>Recommendation:  </a:t>
            </a:r>
            <a:r>
              <a:rPr lang="en-US" sz="1280" dirty="0">
                <a:solidFill>
                  <a:srgbClr val="E4E7ED"/>
                </a:solidFill>
                <a:latin typeface="Calibri" pitchFamily="34" charset="0"/>
                <a:ea typeface="Calibri" pitchFamily="34" charset="-122"/>
                <a:cs typeface="Calibri" pitchFamily="34" charset="-120"/>
              </a:rPr>
              <a:t>Apply enhanced, risk-based authentication to unusual international transactions — combined with other signals — rather than blocking them automatically.</a:t>
            </a:r>
            <a:endParaRPr lang="en-US" sz="1280" dirty="0"/>
          </a:p>
        </p:txBody>
      </p:sp>
      <p:sp>
        <p:nvSpPr>
          <p:cNvPr id="14" name="Text 11"/>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15" name="Text 12"/>
          <p:cNvSpPr/>
          <p:nvPr/>
        </p:nvSpPr>
        <p:spPr>
          <a:xfrm>
            <a:off x="11277295" y="6528816"/>
            <a:ext cx="457200" cy="274320"/>
          </a:xfrm>
          <a:prstGeom prst="rect">
            <a:avLst/>
          </a:prstGeom>
          <a:noFill/>
          <a:ln/>
        </p:spPr>
        <p:txBody>
          <a:bodyPr wrap="square" rtlCol="0" anchor="ctr"/>
          <a:lstStyle/>
          <a:p>
            <a:pPr marL="0" indent="0" algn="r">
              <a:buNone/>
            </a:pPr>
            <a:r>
              <a:rPr lang="en-US" sz="900" dirty="0" smtClean="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7472"/>
            <a:ext cx="10058400" cy="274320"/>
          </a:xfrm>
          <a:prstGeom prst="rect">
            <a:avLst/>
          </a:prstGeom>
          <a:noFill/>
          <a:ln/>
        </p:spPr>
        <p:txBody>
          <a:bodyPr wrap="square" rtlCol="0" anchor="ctr"/>
          <a:lstStyle/>
          <a:p>
            <a:pPr marL="0" indent="0">
              <a:buNone/>
            </a:pPr>
            <a:r>
              <a:rPr lang="en-US" sz="1200" b="1" kern="0" spc="200" dirty="0">
                <a:solidFill>
                  <a:srgbClr val="2F9E93"/>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457200" y="621792"/>
            <a:ext cx="11247120" cy="685800"/>
          </a:xfrm>
          <a:prstGeom prst="rect">
            <a:avLst/>
          </a:prstGeom>
          <a:noFill/>
          <a:ln/>
        </p:spPr>
        <p:txBody>
          <a:bodyPr wrap="square" rtlCol="0" anchor="ctr"/>
          <a:lstStyle/>
          <a:p>
            <a:pPr marL="0" indent="0">
              <a:buNone/>
            </a:pPr>
            <a:r>
              <a:rPr lang="en-US" sz="2800" b="1" dirty="0">
                <a:solidFill>
                  <a:srgbClr val="2F3146"/>
                </a:solidFill>
                <a:latin typeface="Cambria" pitchFamily="34" charset="0"/>
                <a:ea typeface="Cambria" pitchFamily="34" charset="-122"/>
                <a:cs typeface="Cambria" pitchFamily="34" charset="-120"/>
              </a:rPr>
              <a:t>Key Findings and Business Recommendations</a:t>
            </a:r>
            <a:endParaRPr lang="en-US" sz="2800" dirty="0"/>
          </a:p>
        </p:txBody>
      </p:sp>
      <p:sp>
        <p:nvSpPr>
          <p:cNvPr id="4" name="Shape 2"/>
          <p:cNvSpPr/>
          <p:nvPr/>
        </p:nvSpPr>
        <p:spPr>
          <a:xfrm>
            <a:off x="457200" y="1463040"/>
            <a:ext cx="11247120" cy="822960"/>
          </a:xfrm>
          <a:prstGeom prst="roundRect">
            <a:avLst>
              <a:gd name="adj" fmla="val 6667"/>
            </a:avLst>
          </a:prstGeom>
          <a:solidFill>
            <a:srgbClr val="FFFFFF"/>
          </a:solidFill>
          <a:ln w="12700">
            <a:solidFill>
              <a:srgbClr val="E3E6EC"/>
            </a:solidFill>
            <a:prstDash val="solid"/>
          </a:ln>
        </p:spPr>
      </p:sp>
      <p:sp>
        <p:nvSpPr>
          <p:cNvPr id="5" name="Shape 3"/>
          <p:cNvSpPr/>
          <p:nvPr/>
        </p:nvSpPr>
        <p:spPr>
          <a:xfrm>
            <a:off x="457200" y="1463040"/>
            <a:ext cx="109728" cy="822960"/>
          </a:xfrm>
          <a:prstGeom prst="roundRect">
            <a:avLst/>
          </a:prstGeom>
          <a:solidFill>
            <a:srgbClr val="2F9E93"/>
          </a:solidFill>
          <a:ln/>
        </p:spPr>
      </p:sp>
      <p:sp>
        <p:nvSpPr>
          <p:cNvPr id="6" name="Text 4"/>
          <p:cNvSpPr/>
          <p:nvPr/>
        </p:nvSpPr>
        <p:spPr>
          <a:xfrm>
            <a:off x="777240" y="1463040"/>
            <a:ext cx="2788920" cy="8229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Fraud is persistent</a:t>
            </a:r>
            <a:endParaRPr lang="en-US" sz="1300" dirty="0"/>
          </a:p>
        </p:txBody>
      </p:sp>
      <p:sp>
        <p:nvSpPr>
          <p:cNvPr id="7" name="Text 5"/>
          <p:cNvSpPr/>
          <p:nvPr/>
        </p:nvSpPr>
        <p:spPr>
          <a:xfrm>
            <a:off x="3657600" y="1463040"/>
            <a:ext cx="4023360" cy="822960"/>
          </a:xfrm>
          <a:prstGeom prst="rect">
            <a:avLst/>
          </a:prstGeom>
          <a:noFill/>
          <a:ln/>
        </p:spPr>
        <p:txBody>
          <a:bodyPr wrap="square" rtlCol="0" anchor="ctr"/>
          <a:lstStyle/>
          <a:p>
            <a:pPr marL="0" indent="0">
              <a:buNone/>
            </a:pPr>
            <a:r>
              <a:rPr lang="en-US" sz="1150" dirty="0">
                <a:solidFill>
                  <a:srgbClr val="263238"/>
                </a:solidFill>
                <a:latin typeface="Calibri" pitchFamily="34" charset="0"/>
                <a:ea typeface="Calibri" pitchFamily="34" charset="-122"/>
                <a:cs typeface="Calibri" pitchFamily="34" charset="-120"/>
              </a:rPr>
              <a:t>Annual fraud rates stayed near 5.5% from 2020–2024.</a:t>
            </a:r>
            <a:endParaRPr lang="en-US" sz="1150" dirty="0"/>
          </a:p>
        </p:txBody>
      </p:sp>
      <p:sp>
        <p:nvSpPr>
          <p:cNvPr id="8" name="Text 6"/>
          <p:cNvSpPr/>
          <p:nvPr/>
        </p:nvSpPr>
        <p:spPr>
          <a:xfrm>
            <a:off x="7772400" y="1463040"/>
            <a:ext cx="3794760" cy="822960"/>
          </a:xfrm>
          <a:prstGeom prst="rect">
            <a:avLst/>
          </a:prstGeom>
          <a:noFill/>
          <a:ln/>
        </p:spPr>
        <p:txBody>
          <a:bodyPr wrap="square" rtlCol="0" anchor="ctr"/>
          <a:lstStyle/>
          <a:p>
            <a:pPr marL="0" indent="0">
              <a:buNone/>
            </a:pPr>
            <a:r>
              <a:rPr lang="en-US" sz="1150" i="1" dirty="0">
                <a:solidFill>
                  <a:srgbClr val="30476A"/>
                </a:solidFill>
                <a:latin typeface="Calibri" pitchFamily="34" charset="0"/>
                <a:ea typeface="Calibri" pitchFamily="34" charset="-122"/>
                <a:cs typeface="Calibri" pitchFamily="34" charset="-120"/>
              </a:rPr>
              <a:t>Treat fraud controls as an ongoing operational priority, not a one-time fix.</a:t>
            </a:r>
            <a:endParaRPr lang="en-US" sz="1150" dirty="0"/>
          </a:p>
        </p:txBody>
      </p:sp>
      <p:sp>
        <p:nvSpPr>
          <p:cNvPr id="9" name="Shape 7"/>
          <p:cNvSpPr/>
          <p:nvPr/>
        </p:nvSpPr>
        <p:spPr>
          <a:xfrm>
            <a:off x="457200" y="2377440"/>
            <a:ext cx="11247120" cy="822960"/>
          </a:xfrm>
          <a:prstGeom prst="roundRect">
            <a:avLst>
              <a:gd name="adj" fmla="val 6667"/>
            </a:avLst>
          </a:prstGeom>
          <a:solidFill>
            <a:srgbClr val="FFFFFF"/>
          </a:solidFill>
          <a:ln w="12700">
            <a:solidFill>
              <a:srgbClr val="E3E6EC"/>
            </a:solidFill>
            <a:prstDash val="solid"/>
          </a:ln>
        </p:spPr>
      </p:sp>
      <p:sp>
        <p:nvSpPr>
          <p:cNvPr id="10" name="Shape 8"/>
          <p:cNvSpPr/>
          <p:nvPr/>
        </p:nvSpPr>
        <p:spPr>
          <a:xfrm>
            <a:off x="457200" y="2377440"/>
            <a:ext cx="109728" cy="822960"/>
          </a:xfrm>
          <a:prstGeom prst="roundRect">
            <a:avLst/>
          </a:prstGeom>
          <a:solidFill>
            <a:srgbClr val="2F9E93"/>
          </a:solidFill>
          <a:ln/>
        </p:spPr>
      </p:sp>
      <p:sp>
        <p:nvSpPr>
          <p:cNvPr id="11" name="Text 9"/>
          <p:cNvSpPr/>
          <p:nvPr/>
        </p:nvSpPr>
        <p:spPr>
          <a:xfrm>
            <a:off x="777240" y="2377440"/>
            <a:ext cx="2788920" cy="8229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Merchant category matters</a:t>
            </a:r>
            <a:endParaRPr lang="en-US" sz="1300" dirty="0"/>
          </a:p>
        </p:txBody>
      </p:sp>
      <p:sp>
        <p:nvSpPr>
          <p:cNvPr id="12" name="Text 10"/>
          <p:cNvSpPr/>
          <p:nvPr/>
        </p:nvSpPr>
        <p:spPr>
          <a:xfrm>
            <a:off x="3657600" y="2377440"/>
            <a:ext cx="4023360" cy="822960"/>
          </a:xfrm>
          <a:prstGeom prst="rect">
            <a:avLst/>
          </a:prstGeom>
          <a:noFill/>
          <a:ln/>
        </p:spPr>
        <p:txBody>
          <a:bodyPr wrap="square" rtlCol="0" anchor="ctr"/>
          <a:lstStyle/>
          <a:p>
            <a:pPr marL="0" indent="0">
              <a:buNone/>
            </a:pPr>
            <a:r>
              <a:rPr lang="en-US" sz="1150" dirty="0">
                <a:solidFill>
                  <a:srgbClr val="263238"/>
                </a:solidFill>
                <a:latin typeface="Calibri" pitchFamily="34" charset="0"/>
                <a:ea typeface="Calibri" pitchFamily="34" charset="-122"/>
                <a:cs typeface="Calibri" pitchFamily="34" charset="-120"/>
              </a:rPr>
              <a:t>Jewelry, ATM Withdrawal, and Crypto Exchange exceeded 8.7% fraud rates.</a:t>
            </a:r>
            <a:endParaRPr lang="en-US" sz="1150" dirty="0"/>
          </a:p>
        </p:txBody>
      </p:sp>
      <p:sp>
        <p:nvSpPr>
          <p:cNvPr id="13" name="Text 11"/>
          <p:cNvSpPr/>
          <p:nvPr/>
        </p:nvSpPr>
        <p:spPr>
          <a:xfrm>
            <a:off x="7772400" y="2377440"/>
            <a:ext cx="3794760" cy="822960"/>
          </a:xfrm>
          <a:prstGeom prst="rect">
            <a:avLst/>
          </a:prstGeom>
          <a:noFill/>
          <a:ln/>
        </p:spPr>
        <p:txBody>
          <a:bodyPr wrap="square" rtlCol="0" anchor="ctr"/>
          <a:lstStyle/>
          <a:p>
            <a:pPr marL="0" indent="0">
              <a:buNone/>
            </a:pPr>
            <a:r>
              <a:rPr lang="en-US" sz="1150" i="1" dirty="0">
                <a:solidFill>
                  <a:srgbClr val="30476A"/>
                </a:solidFill>
                <a:latin typeface="Calibri" pitchFamily="34" charset="0"/>
                <a:ea typeface="Calibri" pitchFamily="34" charset="-122"/>
                <a:cs typeface="Calibri" pitchFamily="34" charset="-120"/>
              </a:rPr>
              <a:t>Apply enhanced, risk-based monitoring to these high-exposure categories.</a:t>
            </a:r>
            <a:endParaRPr lang="en-US" sz="1150" dirty="0"/>
          </a:p>
        </p:txBody>
      </p:sp>
      <p:sp>
        <p:nvSpPr>
          <p:cNvPr id="14" name="Shape 12"/>
          <p:cNvSpPr/>
          <p:nvPr/>
        </p:nvSpPr>
        <p:spPr>
          <a:xfrm>
            <a:off x="457200" y="3291840"/>
            <a:ext cx="11247120" cy="822960"/>
          </a:xfrm>
          <a:prstGeom prst="roundRect">
            <a:avLst>
              <a:gd name="adj" fmla="val 6667"/>
            </a:avLst>
          </a:prstGeom>
          <a:solidFill>
            <a:srgbClr val="FFFFFF"/>
          </a:solidFill>
          <a:ln w="12700">
            <a:solidFill>
              <a:srgbClr val="E3E6EC"/>
            </a:solidFill>
            <a:prstDash val="solid"/>
          </a:ln>
        </p:spPr>
      </p:sp>
      <p:sp>
        <p:nvSpPr>
          <p:cNvPr id="15" name="Shape 13"/>
          <p:cNvSpPr/>
          <p:nvPr/>
        </p:nvSpPr>
        <p:spPr>
          <a:xfrm>
            <a:off x="457200" y="3291840"/>
            <a:ext cx="109728" cy="822960"/>
          </a:xfrm>
          <a:prstGeom prst="roundRect">
            <a:avLst/>
          </a:prstGeom>
          <a:solidFill>
            <a:srgbClr val="D1495B"/>
          </a:solidFill>
          <a:ln/>
        </p:spPr>
      </p:sp>
      <p:sp>
        <p:nvSpPr>
          <p:cNvPr id="16" name="Text 14"/>
          <p:cNvSpPr/>
          <p:nvPr/>
        </p:nvSpPr>
        <p:spPr>
          <a:xfrm>
            <a:off x="777240" y="3291840"/>
            <a:ext cx="2788920" cy="8229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Failed attempts are a strong signal</a:t>
            </a:r>
            <a:endParaRPr lang="en-US" sz="1300" dirty="0"/>
          </a:p>
        </p:txBody>
      </p:sp>
      <p:sp>
        <p:nvSpPr>
          <p:cNvPr id="17" name="Text 15"/>
          <p:cNvSpPr/>
          <p:nvPr/>
        </p:nvSpPr>
        <p:spPr>
          <a:xfrm>
            <a:off x="3657600" y="3291840"/>
            <a:ext cx="4023360" cy="822960"/>
          </a:xfrm>
          <a:prstGeom prst="rect">
            <a:avLst/>
          </a:prstGeom>
          <a:noFill/>
          <a:ln/>
        </p:spPr>
        <p:txBody>
          <a:bodyPr wrap="square" rtlCol="0" anchor="ctr"/>
          <a:lstStyle/>
          <a:p>
            <a:pPr marL="0" indent="0">
              <a:buNone/>
            </a:pPr>
            <a:r>
              <a:rPr lang="en-US" sz="1150" dirty="0">
                <a:solidFill>
                  <a:srgbClr val="263238"/>
                </a:solidFill>
                <a:latin typeface="Calibri" pitchFamily="34" charset="0"/>
                <a:ea typeface="Calibri" pitchFamily="34" charset="-122"/>
                <a:cs typeface="Calibri" pitchFamily="34" charset="-120"/>
              </a:rPr>
              <a:t>Fraud rate jumped from 4.51% to ~14% at two or more failed attempts.</a:t>
            </a:r>
            <a:endParaRPr lang="en-US" sz="1150" dirty="0"/>
          </a:p>
        </p:txBody>
      </p:sp>
      <p:sp>
        <p:nvSpPr>
          <p:cNvPr id="18" name="Text 16"/>
          <p:cNvSpPr/>
          <p:nvPr/>
        </p:nvSpPr>
        <p:spPr>
          <a:xfrm>
            <a:off x="7772400" y="3291840"/>
            <a:ext cx="3794760" cy="822960"/>
          </a:xfrm>
          <a:prstGeom prst="rect">
            <a:avLst/>
          </a:prstGeom>
          <a:noFill/>
          <a:ln/>
        </p:spPr>
        <p:txBody>
          <a:bodyPr wrap="square" rtlCol="0" anchor="ctr"/>
          <a:lstStyle/>
          <a:p>
            <a:pPr marL="0" indent="0">
              <a:buNone/>
            </a:pPr>
            <a:r>
              <a:rPr lang="en-US" sz="1150" i="1" dirty="0">
                <a:solidFill>
                  <a:srgbClr val="30476A"/>
                </a:solidFill>
                <a:latin typeface="Calibri" pitchFamily="34" charset="0"/>
                <a:ea typeface="Calibri" pitchFamily="34" charset="-122"/>
                <a:cs typeface="Calibri" pitchFamily="34" charset="-120"/>
              </a:rPr>
              <a:t>Flag repeated failed attempts for additional verification.</a:t>
            </a:r>
            <a:endParaRPr lang="en-US" sz="1150" dirty="0"/>
          </a:p>
        </p:txBody>
      </p:sp>
      <p:sp>
        <p:nvSpPr>
          <p:cNvPr id="19" name="Shape 17"/>
          <p:cNvSpPr/>
          <p:nvPr/>
        </p:nvSpPr>
        <p:spPr>
          <a:xfrm>
            <a:off x="457200" y="4206240"/>
            <a:ext cx="11247120" cy="822960"/>
          </a:xfrm>
          <a:prstGeom prst="roundRect">
            <a:avLst>
              <a:gd name="adj" fmla="val 6667"/>
            </a:avLst>
          </a:prstGeom>
          <a:solidFill>
            <a:srgbClr val="FFFFFF"/>
          </a:solidFill>
          <a:ln w="12700">
            <a:solidFill>
              <a:srgbClr val="E3E6EC"/>
            </a:solidFill>
            <a:prstDash val="solid"/>
          </a:ln>
        </p:spPr>
      </p:sp>
      <p:sp>
        <p:nvSpPr>
          <p:cNvPr id="20" name="Shape 18"/>
          <p:cNvSpPr/>
          <p:nvPr/>
        </p:nvSpPr>
        <p:spPr>
          <a:xfrm>
            <a:off x="457200" y="4206240"/>
            <a:ext cx="109728" cy="822960"/>
          </a:xfrm>
          <a:prstGeom prst="roundRect">
            <a:avLst/>
          </a:prstGeom>
          <a:solidFill>
            <a:srgbClr val="D1495B"/>
          </a:solidFill>
          <a:ln/>
        </p:spPr>
      </p:sp>
      <p:sp>
        <p:nvSpPr>
          <p:cNvPr id="21" name="Text 19"/>
          <p:cNvSpPr/>
          <p:nvPr/>
        </p:nvSpPr>
        <p:spPr>
          <a:xfrm>
            <a:off x="777240" y="4206240"/>
            <a:ext cx="2788920" cy="8229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International transactions carry more risk</a:t>
            </a:r>
            <a:endParaRPr lang="en-US" sz="1300" dirty="0"/>
          </a:p>
        </p:txBody>
      </p:sp>
      <p:sp>
        <p:nvSpPr>
          <p:cNvPr id="22" name="Text 20"/>
          <p:cNvSpPr/>
          <p:nvPr/>
        </p:nvSpPr>
        <p:spPr>
          <a:xfrm>
            <a:off x="3657600" y="4206240"/>
            <a:ext cx="4023360" cy="822960"/>
          </a:xfrm>
          <a:prstGeom prst="rect">
            <a:avLst/>
          </a:prstGeom>
          <a:noFill/>
          <a:ln/>
        </p:spPr>
        <p:txBody>
          <a:bodyPr wrap="square" rtlCol="0" anchor="ctr"/>
          <a:lstStyle/>
          <a:p>
            <a:pPr marL="0" indent="0">
              <a:buNone/>
            </a:pPr>
            <a:r>
              <a:rPr lang="en-US" sz="1150" dirty="0">
                <a:solidFill>
                  <a:srgbClr val="263238"/>
                </a:solidFill>
                <a:latin typeface="Calibri" pitchFamily="34" charset="0"/>
                <a:ea typeface="Calibri" pitchFamily="34" charset="-122"/>
                <a:cs typeface="Calibri" pitchFamily="34" charset="-120"/>
              </a:rPr>
              <a:t>9.85% fraud rate vs. 4.72% domestic.</a:t>
            </a:r>
            <a:endParaRPr lang="en-US" sz="1150" dirty="0"/>
          </a:p>
        </p:txBody>
      </p:sp>
      <p:sp>
        <p:nvSpPr>
          <p:cNvPr id="23" name="Text 21"/>
          <p:cNvSpPr/>
          <p:nvPr/>
        </p:nvSpPr>
        <p:spPr>
          <a:xfrm>
            <a:off x="7772400" y="4206240"/>
            <a:ext cx="3794760" cy="822960"/>
          </a:xfrm>
          <a:prstGeom prst="rect">
            <a:avLst/>
          </a:prstGeom>
          <a:noFill/>
          <a:ln/>
        </p:spPr>
        <p:txBody>
          <a:bodyPr wrap="square" rtlCol="0" anchor="ctr"/>
          <a:lstStyle/>
          <a:p>
            <a:pPr marL="0" indent="0">
              <a:buNone/>
            </a:pPr>
            <a:r>
              <a:rPr lang="en-US" sz="1150" i="1" dirty="0">
                <a:solidFill>
                  <a:srgbClr val="30476A"/>
                </a:solidFill>
                <a:latin typeface="Calibri" pitchFamily="34" charset="0"/>
                <a:ea typeface="Calibri" pitchFamily="34" charset="-122"/>
                <a:cs typeface="Calibri" pitchFamily="34" charset="-120"/>
              </a:rPr>
              <a:t>Use enhanced authentication for unusual international activity.</a:t>
            </a:r>
            <a:endParaRPr lang="en-US" sz="1150" dirty="0"/>
          </a:p>
        </p:txBody>
      </p:sp>
      <p:sp>
        <p:nvSpPr>
          <p:cNvPr id="24" name="Shape 22"/>
          <p:cNvSpPr/>
          <p:nvPr/>
        </p:nvSpPr>
        <p:spPr>
          <a:xfrm>
            <a:off x="457200" y="5120640"/>
            <a:ext cx="11247120" cy="822960"/>
          </a:xfrm>
          <a:prstGeom prst="roundRect">
            <a:avLst>
              <a:gd name="adj" fmla="val 6667"/>
            </a:avLst>
          </a:prstGeom>
          <a:solidFill>
            <a:srgbClr val="FFFFFF"/>
          </a:solidFill>
          <a:ln w="12700">
            <a:solidFill>
              <a:srgbClr val="E3E6EC"/>
            </a:solidFill>
            <a:prstDash val="solid"/>
          </a:ln>
        </p:spPr>
      </p:sp>
      <p:sp>
        <p:nvSpPr>
          <p:cNvPr id="25" name="Shape 23"/>
          <p:cNvSpPr/>
          <p:nvPr/>
        </p:nvSpPr>
        <p:spPr>
          <a:xfrm>
            <a:off x="457200" y="5120640"/>
            <a:ext cx="109728" cy="822960"/>
          </a:xfrm>
          <a:prstGeom prst="roundRect">
            <a:avLst/>
          </a:prstGeom>
          <a:solidFill>
            <a:srgbClr val="2F9E93"/>
          </a:solidFill>
          <a:ln/>
        </p:spPr>
      </p:sp>
      <p:sp>
        <p:nvSpPr>
          <p:cNvPr id="26" name="Text 24"/>
          <p:cNvSpPr/>
          <p:nvPr/>
        </p:nvSpPr>
        <p:spPr>
          <a:xfrm>
            <a:off x="777240" y="5120640"/>
            <a:ext cx="2788920" cy="822960"/>
          </a:xfrm>
          <a:prstGeom prst="rect">
            <a:avLst/>
          </a:prstGeom>
          <a:noFill/>
          <a:ln/>
        </p:spPr>
        <p:txBody>
          <a:bodyPr wrap="square" rtlCol="0" anchor="ctr"/>
          <a:lstStyle/>
          <a:p>
            <a:pPr marL="0" indent="0">
              <a:buNone/>
            </a:pPr>
            <a:r>
              <a:rPr lang="en-US" sz="1300" b="1" dirty="0">
                <a:solidFill>
                  <a:srgbClr val="2F3146"/>
                </a:solidFill>
                <a:latin typeface="Cambria" pitchFamily="34" charset="0"/>
                <a:ea typeface="Cambria" pitchFamily="34" charset="-122"/>
                <a:cs typeface="Cambria" pitchFamily="34" charset="-120"/>
              </a:rPr>
              <a:t>Volume ≠ risk</a:t>
            </a:r>
            <a:endParaRPr lang="en-US" sz="1300" dirty="0"/>
          </a:p>
        </p:txBody>
      </p:sp>
      <p:sp>
        <p:nvSpPr>
          <p:cNvPr id="27" name="Text 25"/>
          <p:cNvSpPr/>
          <p:nvPr/>
        </p:nvSpPr>
        <p:spPr>
          <a:xfrm>
            <a:off x="3657600" y="5120640"/>
            <a:ext cx="4023360" cy="822960"/>
          </a:xfrm>
          <a:prstGeom prst="rect">
            <a:avLst/>
          </a:prstGeom>
          <a:noFill/>
          <a:ln/>
        </p:spPr>
        <p:txBody>
          <a:bodyPr wrap="square" rtlCol="0" anchor="ctr"/>
          <a:lstStyle/>
          <a:p>
            <a:pPr marL="0" indent="0">
              <a:buNone/>
            </a:pPr>
            <a:r>
              <a:rPr lang="en-US" sz="1150" dirty="0">
                <a:solidFill>
                  <a:srgbClr val="263238"/>
                </a:solidFill>
                <a:latin typeface="Calibri" pitchFamily="34" charset="0"/>
                <a:ea typeface="Calibri" pitchFamily="34" charset="-122"/>
                <a:cs typeface="Calibri" pitchFamily="34" charset="-120"/>
              </a:rPr>
              <a:t>High fraud volume (Mobile, Credit Card, USA) doesn't mean highest fraud rate.</a:t>
            </a:r>
            <a:endParaRPr lang="en-US" sz="1150" dirty="0"/>
          </a:p>
        </p:txBody>
      </p:sp>
      <p:sp>
        <p:nvSpPr>
          <p:cNvPr id="28" name="Text 26"/>
          <p:cNvSpPr/>
          <p:nvPr/>
        </p:nvSpPr>
        <p:spPr>
          <a:xfrm>
            <a:off x="7772400" y="5120640"/>
            <a:ext cx="3794760" cy="822960"/>
          </a:xfrm>
          <a:prstGeom prst="rect">
            <a:avLst/>
          </a:prstGeom>
          <a:noFill/>
          <a:ln/>
        </p:spPr>
        <p:txBody>
          <a:bodyPr wrap="square" rtlCol="0" anchor="ctr"/>
          <a:lstStyle/>
          <a:p>
            <a:pPr marL="0" indent="0">
              <a:buNone/>
            </a:pPr>
            <a:r>
              <a:rPr lang="en-US" sz="1150" i="1" dirty="0">
                <a:solidFill>
                  <a:srgbClr val="30476A"/>
                </a:solidFill>
                <a:latin typeface="Calibri" pitchFamily="34" charset="0"/>
                <a:ea typeface="Calibri" pitchFamily="34" charset="-122"/>
                <a:cs typeface="Calibri" pitchFamily="34" charset="-120"/>
              </a:rPr>
              <a:t>Always evaluate fraud rate, not just count, before targeting controls.</a:t>
            </a:r>
            <a:endParaRPr lang="en-US" sz="1150" dirty="0"/>
          </a:p>
        </p:txBody>
      </p:sp>
      <p:sp>
        <p:nvSpPr>
          <p:cNvPr id="29" name="Text 27"/>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
        <p:nvSpPr>
          <p:cNvPr id="30" name="Text 28"/>
          <p:cNvSpPr/>
          <p:nvPr/>
        </p:nvSpPr>
        <p:spPr>
          <a:xfrm>
            <a:off x="11277295" y="6528816"/>
            <a:ext cx="457200" cy="274320"/>
          </a:xfrm>
          <a:prstGeom prst="rect">
            <a:avLst/>
          </a:prstGeom>
          <a:noFill/>
          <a:ln/>
        </p:spPr>
        <p:txBody>
          <a:bodyPr wrap="square" rtlCol="0" anchor="ctr"/>
          <a:lstStyle/>
          <a:p>
            <a:pPr marL="0" indent="0" algn="r">
              <a:buNone/>
            </a:pPr>
            <a:r>
              <a:rPr lang="en-US" sz="900" dirty="0" smtClean="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2F3146"/>
        </a:solidFill>
        <a:effectLst/>
      </p:bgPr>
    </p:bg>
    <p:spTree>
      <p:nvGrpSpPr>
        <p:cNvPr id="1" name=""/>
        <p:cNvGrpSpPr/>
        <p:nvPr/>
      </p:nvGrpSpPr>
      <p:grpSpPr>
        <a:xfrm>
          <a:off x="0" y="0"/>
          <a:ext cx="0" cy="0"/>
          <a:chOff x="0" y="0"/>
          <a:chExt cx="0" cy="0"/>
        </a:xfrm>
      </p:grpSpPr>
      <p:sp>
        <p:nvSpPr>
          <p:cNvPr id="2" name="Shape 0"/>
          <p:cNvSpPr/>
          <p:nvPr/>
        </p:nvSpPr>
        <p:spPr>
          <a:xfrm>
            <a:off x="-1463040" y="-1463040"/>
            <a:ext cx="3840480" cy="3840480"/>
          </a:xfrm>
          <a:prstGeom prst="ellipse">
            <a:avLst/>
          </a:prstGeom>
          <a:solidFill>
            <a:srgbClr val="30476A">
              <a:alpha val="55000"/>
            </a:srgbClr>
          </a:solidFill>
          <a:ln/>
        </p:spPr>
      </p:sp>
      <p:sp>
        <p:nvSpPr>
          <p:cNvPr id="3" name="Shape 1"/>
          <p:cNvSpPr/>
          <p:nvPr/>
        </p:nvSpPr>
        <p:spPr>
          <a:xfrm>
            <a:off x="10241280" y="4206240"/>
            <a:ext cx="3291840" cy="3291840"/>
          </a:xfrm>
          <a:prstGeom prst="ellipse">
            <a:avLst/>
          </a:prstGeom>
          <a:solidFill>
            <a:srgbClr val="2F9E93">
              <a:alpha val="30000"/>
            </a:srgbClr>
          </a:solidFill>
          <a:ln/>
        </p:spPr>
      </p:sp>
      <p:sp>
        <p:nvSpPr>
          <p:cNvPr id="14" name="Text 12"/>
          <p:cNvSpPr/>
          <p:nvPr/>
        </p:nvSpPr>
        <p:spPr>
          <a:xfrm>
            <a:off x="1524000" y="2971800"/>
            <a:ext cx="9144000" cy="10058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15" name="Text 13"/>
          <p:cNvSpPr/>
          <p:nvPr/>
        </p:nvSpPr>
        <p:spPr>
          <a:xfrm>
            <a:off x="1524000" y="3977640"/>
            <a:ext cx="9144000" cy="502920"/>
          </a:xfrm>
          <a:prstGeom prst="rect">
            <a:avLst/>
          </a:prstGeom>
          <a:noFill/>
          <a:ln/>
        </p:spPr>
        <p:txBody>
          <a:bodyPr wrap="square" rtlCol="0" anchor="ctr"/>
          <a:lstStyle/>
          <a:p>
            <a:pPr marL="0" indent="0" algn="ctr">
              <a:buNone/>
            </a:pPr>
            <a:r>
              <a:rPr lang="en-US" sz="1800" i="1" dirty="0">
                <a:solidFill>
                  <a:srgbClr val="9AA5B4"/>
                </a:solidFill>
                <a:latin typeface="Calibri" pitchFamily="34" charset="0"/>
                <a:ea typeface="Calibri" pitchFamily="34" charset="-122"/>
                <a:cs typeface="Calibri" pitchFamily="34" charset="-120"/>
              </a:rPr>
              <a:t>Questions &amp; Discussion</a:t>
            </a:r>
            <a:endParaRPr lang="en-US" sz="1800" dirty="0"/>
          </a:p>
        </p:txBody>
      </p:sp>
      <p:sp>
        <p:nvSpPr>
          <p:cNvPr id="16" name="Text 14"/>
          <p:cNvSpPr/>
          <p:nvPr/>
        </p:nvSpPr>
        <p:spPr>
          <a:xfrm>
            <a:off x="457200" y="6528816"/>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Financial Fraud Analysis</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2431</Words>
  <Application>Microsoft Office PowerPoint</Application>
  <PresentationFormat>Widescreen</PresentationFormat>
  <Paragraphs>217</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JANU_2507</cp:lastModifiedBy>
  <cp:revision>14</cp:revision>
  <dcterms:created xsi:type="dcterms:W3CDTF">2026-07-19T03:33:16Z</dcterms:created>
  <dcterms:modified xsi:type="dcterms:W3CDTF">2026-07-19T05:41:38Z</dcterms:modified>
</cp:coreProperties>
</file>